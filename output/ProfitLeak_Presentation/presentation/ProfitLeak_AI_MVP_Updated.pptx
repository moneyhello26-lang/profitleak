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ae2960403e41c6" /><Relationship Type="http://schemas.openxmlformats.org/officeDocument/2006/relationships/extended-properties" Target="/docProps/app.xml" Id="R70e6031335e54bcd" /><Relationship Type="http://schemas.openxmlformats.org/officeDocument/2006/relationships/officeDocument" Target="/ppt/presentation.xml" Id="R922d08f259b64a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f28fd9ac354953"/>
  </p:sldMasterIdLst>
  <p:notesMasterIdLst>
    <p:notesMasterId xmlns:r="http://schemas.openxmlformats.org/officeDocument/2006/relationships" r:id="R2530b1da6ec8486e"/>
  </p:notesMasterIdLst>
  <p:sldIdLst>
    <p:sldId xmlns:r="http://schemas.openxmlformats.org/officeDocument/2006/relationships" id="256" r:id="R2d54562920314f39"/>
    <p:sldId xmlns:r="http://schemas.openxmlformats.org/officeDocument/2006/relationships" id="257" r:id="R1a4c7d7008d54148"/>
    <p:sldId xmlns:r="http://schemas.openxmlformats.org/officeDocument/2006/relationships" id="258" r:id="Rf336395e797b4e3b"/>
    <p:sldId xmlns:r="http://schemas.openxmlformats.org/officeDocument/2006/relationships" id="259" r:id="R7de6563b4de244b3"/>
    <p:sldId xmlns:r="http://schemas.openxmlformats.org/officeDocument/2006/relationships" id="260" r:id="R866d374c56f94f2c"/>
    <p:sldId xmlns:r="http://schemas.openxmlformats.org/officeDocument/2006/relationships" id="261" r:id="Rbed7f7d397c748ab"/>
    <p:sldId xmlns:r="http://schemas.openxmlformats.org/officeDocument/2006/relationships" id="262" r:id="R7f8cd7530c5f4d08"/>
    <p:sldId xmlns:r="http://schemas.openxmlformats.org/officeDocument/2006/relationships" id="263" r:id="R3d38392ede764ba5"/>
    <p:sldId xmlns:r="http://schemas.openxmlformats.org/officeDocument/2006/relationships" id="264" r:id="R2d9e8ee223ec45c4"/>
    <p:sldId xmlns:r="http://schemas.openxmlformats.org/officeDocument/2006/relationships" id="265" r:id="R6cb18e8a45c046d6"/>
    <p:sldId xmlns:r="http://schemas.openxmlformats.org/officeDocument/2006/relationships" id="266" r:id="Rde315a6a353643fe"/>
    <p:sldId xmlns:r="http://schemas.openxmlformats.org/officeDocument/2006/relationships" id="267" r:id="R04863a81c8ca4653"/>
    <p:sldId xmlns:r="http://schemas.openxmlformats.org/officeDocument/2006/relationships" id="268" r:id="R961c3ce3fe574e3c"/>
    <p:sldId xmlns:r="http://schemas.openxmlformats.org/officeDocument/2006/relationships" id="269" r:id="R6793acca4c664bd8"/>
    <p:sldId xmlns:r="http://schemas.openxmlformats.org/officeDocument/2006/relationships" id="270" r:id="Re647e46add4b407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82a0e55d4c4d9e" /><Relationship Type="http://schemas.openxmlformats.org/officeDocument/2006/relationships/slideMaster" Target="/ppt/slideMasters/slideMaster1.xml" Id="Rf2f28fd9ac354953" /><Relationship Type="http://schemas.openxmlformats.org/officeDocument/2006/relationships/notesMaster" Target="/ppt/notesMasters/notesMaster1.xml" Id="R2530b1da6ec8486e" /><Relationship Type="http://schemas.openxmlformats.org/officeDocument/2006/relationships/presProps" Target="/ppt/presProps.xml" Id="Rc72b7d8e0c894e9f" /><Relationship Type="http://schemas.openxmlformats.org/officeDocument/2006/relationships/tableStyles" Target="/ppt/tableStyles.xml" Id="Rca48aaf5282b43bc" /><Relationship Type="http://schemas.openxmlformats.org/officeDocument/2006/relationships/slide" Target="/ppt/slides/slide1.xml" Id="R2d54562920314f39" /><Relationship Type="http://schemas.openxmlformats.org/officeDocument/2006/relationships/slide" Target="/ppt/slides/slide2.xml" Id="R1a4c7d7008d54148" /><Relationship Type="http://schemas.openxmlformats.org/officeDocument/2006/relationships/slide" Target="/ppt/slides/slide3.xml" Id="Rf336395e797b4e3b" /><Relationship Type="http://schemas.openxmlformats.org/officeDocument/2006/relationships/slide" Target="/ppt/slides/slide4.xml" Id="R7de6563b4de244b3" /><Relationship Type="http://schemas.openxmlformats.org/officeDocument/2006/relationships/slide" Target="/ppt/slides/slide5.xml" Id="R866d374c56f94f2c" /><Relationship Type="http://schemas.openxmlformats.org/officeDocument/2006/relationships/slide" Target="/ppt/slides/slide6.xml" Id="Rbed7f7d397c748ab" /><Relationship Type="http://schemas.openxmlformats.org/officeDocument/2006/relationships/slide" Target="/ppt/slides/slide7.xml" Id="R7f8cd7530c5f4d08" /><Relationship Type="http://schemas.openxmlformats.org/officeDocument/2006/relationships/slide" Target="/ppt/slides/slide8.xml" Id="R3d38392ede764ba5" /><Relationship Type="http://schemas.openxmlformats.org/officeDocument/2006/relationships/slide" Target="/ppt/slides/slide9.xml" Id="R2d9e8ee223ec45c4" /><Relationship Type="http://schemas.openxmlformats.org/officeDocument/2006/relationships/slide" Target="/ppt/slides/slide10.xml" Id="R6cb18e8a45c046d6" /><Relationship Type="http://schemas.openxmlformats.org/officeDocument/2006/relationships/slide" Target="/ppt/slides/slide11.xml" Id="Rde315a6a353643fe" /><Relationship Type="http://schemas.openxmlformats.org/officeDocument/2006/relationships/slide" Target="/ppt/slides/slide12.xml" Id="R04863a81c8ca4653" /><Relationship Type="http://schemas.openxmlformats.org/officeDocument/2006/relationships/slide" Target="/ppt/slides/slide13.xml" Id="R961c3ce3fe574e3c" /><Relationship Type="http://schemas.openxmlformats.org/officeDocument/2006/relationships/slide" Target="/ppt/slides/slide14.xml" Id="R6793acca4c664bd8" /><Relationship Type="http://schemas.openxmlformats.org/officeDocument/2006/relationships/slide" Target="/ppt/slides/slide15.xml" Id="Re647e46add4b40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5103f55c6e45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rofitLeak">
      <a:dk1>
        <a:srgbClr val="1B3530"/>
      </a:dk1>
      <a:lt1>
        <a:srgbClr val="FFFFFF"/>
      </a:lt1>
      <a:dk2>
        <a:srgbClr val="103D32"/>
      </a:dk2>
      <a:lt2>
        <a:srgbClr val="F3F7F4"/>
      </a:lt2>
      <a:accent1>
        <a:srgbClr val="008E7F"/>
      </a:accent1>
      <a:accent2>
        <a:srgbClr val="BCD8CA"/>
      </a:accent2>
      <a:accent3>
        <a:srgbClr val="C17145"/>
      </a:accent3>
      <a:accent4>
        <a:srgbClr val="A44E42"/>
      </a:accent4>
      <a:accent5>
        <a:srgbClr val="A1B9CC"/>
      </a:accent5>
      <a:accent6>
        <a:srgbClr val="DBC179"/>
      </a:accent6>
      <a:hlink>
        <a:srgbClr val="008E7F"/>
      </a:hlink>
      <a:folHlink>
        <a:srgbClr val="008E7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rofitLea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8ead6a3c07453e" /><Relationship Type="http://schemas.openxmlformats.org/officeDocument/2006/relationships/notesMaster" Target="/ppt/notesMasters/notesMaster1.xml" Id="R9a2774e304244a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2cffd3fb35417e" /><Relationship Type="http://schemas.openxmlformats.org/officeDocument/2006/relationships/notesMaster" Target="/ppt/notesMasters/notesMaster1.xml" Id="Re2ad3a843cb245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1ba93419084187" /><Relationship Type="http://schemas.openxmlformats.org/officeDocument/2006/relationships/notesMaster" Target="/ppt/notesMasters/notesMaster1.xml" Id="R423354d00ef341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8b4f4a3b2c4a06" /><Relationship Type="http://schemas.openxmlformats.org/officeDocument/2006/relationships/notesMaster" Target="/ppt/notesMasters/notesMaster1.xml" Id="Raa8d55d11c3c4c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94b743070f4360" /><Relationship Type="http://schemas.openxmlformats.org/officeDocument/2006/relationships/notesMaster" Target="/ppt/notesMasters/notesMaster1.xml" Id="R7bce2b65ebbe44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195ec6e0fb49f3" /><Relationship Type="http://schemas.openxmlformats.org/officeDocument/2006/relationships/notesMaster" Target="/ppt/notesMasters/notesMaster1.xml" Id="R3fc23abff6b342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4b766f8a52467a" /><Relationship Type="http://schemas.openxmlformats.org/officeDocument/2006/relationships/notesMaster" Target="/ppt/notesMasters/notesMaster1.xml" Id="Rb1ccdfc62b9348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b38ace374d4458" /><Relationship Type="http://schemas.openxmlformats.org/officeDocument/2006/relationships/notesMaster" Target="/ppt/notesMasters/notesMaster1.xml" Id="R93d6a5e5d1f54e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fe8d7fa0d84962" /><Relationship Type="http://schemas.openxmlformats.org/officeDocument/2006/relationships/notesMaster" Target="/ppt/notesMasters/notesMaster1.xml" Id="Rf2ad38a0fbbf45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6ebfb7fc984000" /><Relationship Type="http://schemas.openxmlformats.org/officeDocument/2006/relationships/notesMaster" Target="/ppt/notesMasters/notesMaster1.xml" Id="Rf6a7eb3f9a924b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1a5802e0a34983" /><Relationship Type="http://schemas.openxmlformats.org/officeDocument/2006/relationships/notesMaster" Target="/ppt/notesMasters/notesMaster1.xml" Id="Rb0930b0933fa49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7a11734ba04c4d" /><Relationship Type="http://schemas.openxmlformats.org/officeDocument/2006/relationships/notesMaster" Target="/ppt/notesMasters/notesMaster1.xml" Id="R60245518cdc645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813d5492584eac" /><Relationship Type="http://schemas.openxmlformats.org/officeDocument/2006/relationships/notesMaster" Target="/ppt/notesMasters/notesMaster1.xml" Id="R0711f14f8ed844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20eca11dc94c5d" /><Relationship Type="http://schemas.openxmlformats.org/officeDocument/2006/relationships/notesMaster" Target="/ppt/notesMasters/notesMaster1.xml" Id="R0a430531855042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ee35083a514fa4" /><Relationship Type="http://schemas.openxmlformats.org/officeDocument/2006/relationships/notesMaster" Target="/ppt/notesMasters/notesMaster1.xml" Id="R8bb7d5e4b21d40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Демо: 04.07–01.10.2026, 90 дней. Источник: backend/app/services/demo.py и .tmp/presentation-mvp/facts.json. Новые снимки получены в отдельной локальной демо-базе на 127.0.0.1:8019. Для формы импорта и русскоязычного обзора использованы предоставленные проектом снимки output/screenshots/06-imports.png и 02-dashboard.png с тем же демо-набором. Рабочая база пользователя не использовалась.</a:t>
            </a:r>
          </a:p>
          <a:p xmlns:a="http://schemas.openxmlformats.org/drawingml/2006/main">
            <a:r>
              <a:t>Целевая аудитория проекта: малый бизнес, включая кафе и магазины. Утверждение о прибыли иллюстрирует слайд сравнения периодов. Рыночные оценки и подтверждённый экономический эффект не заявляются.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Демо: 04.07–01.10.2026, 90 дней. Источник: backend/app/services/demo.py и .tmp/presentation-mvp/facts.json. Новые снимки получены в отдельной локальной демо-базе на 127.0.0.1:8019. Для формы импорта и русскоязычного обзора использованы предоставленные проектом снимки output/screenshots/06-imports.png и 02-dashboard.png с тем же демо-набором. Рабочая база пользователя не использовалась.</a:t>
            </a:r>
          </a:p>
          <a:p xmlns:a="http://schemas.openxmlformats.org/drawingml/2006/main">
            <a:r>
              <a:t>Источники: backend/app/services/import_parser.py, import_store.py и текущая страница /imports. Форматы CSV/XLSX, до 10 МБ. Предпросмотр не записывает финансовые строки. Подтверждение проверяет нормализованное содержимое, предотвращая повторный импорт одинаковых записей в составе того же набора.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Демо: 04.07–01.10.2026, 90 дней. Источник: backend/app/services/demo.py и .tmp/presentation-mvp/facts.json. Новые снимки получены в отдельной локальной демо-базе на 127.0.0.1:8019. Для формы импорта и русскоязычного обзора использованы предоставленные проектом снимки output/screenshots/06-imports.png и 02-dashboard.png с тем же демо-набором. Рабочая база пользователя не использовалась.</a:t>
            </a:r>
          </a:p>
          <a:p xmlns:a="http://schemas.openxmlformats.org/drawingml/2006/main">
            <a:r>
              <a:t>KPI: выручка 5 454 000, себестоимость 2 475 000, валовая прибыль 2 979 000, расходы 736 500, операционная прибыль 2 242 500 KZT. Расчёты используют Decimal и целые сотые доли в SQLite.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Демо: 04.07–01.10.2026, 90 дней. Источник: backend/app/services/demo.py и .tmp/presentation-mvp/facts.json. Новые снимки получены в отдельной локальной демо-базе на 127.0.0.1:8019. Для формы импорта и русскоязычного обзора использованы предоставленные проектом снимки output/screenshots/06-imports.png и 02-dashboard.png с тем же демо-набором. Рабочая база пользователя не использовалась.</a:t>
            </a:r>
          </a:p>
          <a:p xmlns:a="http://schemas.openxmlformats.org/drawingml/2006/main">
            <a:r>
              <a:t>Источник: GET /api/v1/analytics/products. Значения за 90 дней. Валовая прибыль = выручка − себестоимость. Маржа = валовая прибыль / выручка × 100. Операционные расходы не распределяются по товарам.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Демо: 04.07–01.10.2026, 90 дней. Источник: backend/app/services/demo.py и .tmp/presentation-mvp/facts.json. Новые снимки получены в отдельной локальной демо-базе на 127.0.0.1:8019. Для формы импорта и русскоязычного обзора использованы предоставленные проектом снимки output/screenshots/06-imports.png и 02-dashboard.png с тем же демо-набором. Рабочая база пользователя не использовалась.</a:t>
            </a:r>
          </a:p>
          <a:p xmlns:a="http://schemas.openxmlformats.org/drawingml/2006/main">
            <a:r>
              <a:t>Источники: REQUIREMENTS.md Rules v1, backend/app/services/detector.py. Таблица показывает пороги, а не полный контракт. EXPENSE_SPIKE: минимум 7 наблюдаемых дней категории в каждом окне и положительная база. MARGIN_DROP: 7 дней и 10 единиц в обоих окнах, полные затраты. LOW_PROFIT_PRODUCT: 5 строк, 3 дня, 10 единиц. SALES_DROP: ежедневное покрытие в обоих окнах. Дубликаты: одинаковые положительные расходы, возвраты исключены. Анализ демо даёт 3 сигнала по 5 правилам.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Демо: 04.07–01.10.2026, 90 дней. Источник: backend/app/services/demo.py и .tmp/presentation-mvp/facts.json. Новые снимки получены в отдельной локальной демо-базе на 127.0.0.1:8019. Для формы импорта и русскоязычного обзора использованы предоставленные проектом снимки output/screenshots/06-imports.png и 02-dashboard.png с тем же демо-набором. Рабочая база пользователя не использовалась.</a:t>
            </a:r>
          </a:p>
          <a:p xmlns:a="http://schemas.openxmlformats.org/drawingml/2006/main">
            <a:r>
              <a:t>Упаковка: 30 000 KZT в базовом периоде 03.08–01.09.2026, 46 500 KZT в текущем 02.09–01.10.2026. (46500−30000)/30000×100 = 55%. Сценарная оценка 16 500 KZT предполагает тот же объём закупок. В файле объём не указан. Оценки могут пересекаться и не суммируются. Статусы: Новая, В работе, Проверена, Отклонена. Сохранение статуса и заметки не подтверждает экономию. Статусы и заметки сохраняются при повторном анализе того же периода.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Демо: 04.07–01.10.2026, 90 дней. Источник: backend/app/services/demo.py и .tmp/presentation-mvp/facts.json. Новые снимки получены в отдельной локальной демо-базе на 127.0.0.1:8019. Для формы импорта и русскоязычного обзора использованы предоставленные проектом снимки output/screenshots/06-imports.png и 02-dashboard.png с тем же демо-набором. Рабочая база пользователя не использовалась.</a:t>
            </a:r>
          </a:p>
          <a:p xmlns:a="http://schemas.openxmlformats.org/drawingml/2006/main">
            <a:r>
              <a:t>Источник: GET /api/v1/analytics/comparison. База: 03.08–01.09.2026. Текущий: 02.09–01.10.2026, по 30 дней. Выручка 1818000 в обоих, себестоимость 712500 и 1050000, операционная прибыль 865500 и 511500. Изменение прибыли −354000 KZT, −40.90%. В демо рост себестоимости кофе и расходов на упаковку объясняет разницу. Сервис поддерживает суммы и нормализацию за день, произвольные непересекающиеся периоды, товары, категории расходов и процентные пункты маржи.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Демо: 04.07–01.10.2026, 90 дней. Источник: backend/app/services/demo.py и .tmp/presentation-mvp/facts.json. Новые снимки получены в отдельной локальной демо-базе на 127.0.0.1:8019. Для формы импорта и русскоязычного обзора использованы предоставленные проектом снимки output/screenshots/06-imports.png и 02-dashboard.png с тем же демо-набором. Рабочая база пользователя не использовалась.</a:t>
            </a:r>
          </a:p>
          <a:p xmlns:a="http://schemas.openxmlformats.org/drawingml/2006/main">
            <a:r>
              <a:t>Источники: backend/app/services/forecast.py, /api/v1/analytics/forecast, docs/PLANNING_GUIDE.md. Пример на 02.10–31.10.2026, 30 дней. История расчёта 02.09–01.10.2026. База: выручка 1818000, себестоимость 1050000, расходы 256500, прибыль 511500. Сценарий продаж +10% и расходов −5%: выручка 1999800, себестоимость 1155000, расходы 243675, прибыль 601125. Рост продаж одинаково масштабирует выручку и себестоимость. Модель использует средние по дням недели за последние 28–30 дней, расходы усредняет за календарные дни. Проверка выручки на 7 скрытых днях при достаточной истории. Тренд, праздники и годовая сезонность не моделируются. Прогноз является расчётным сценарием.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Источники: docs/ACCOUNTS_AND_LANGUAGE_GUIDE.md, backend/app/api/dependencies.py и auth.py. Права проверяет сервер. Изменение роли действует без повторного входа. Владелец добавляет уже зарегистрированный аккаунт. Письма-приглашения не отправляются. Последнего владельца нельзя удалить или понизить. Все участники видят только доступные им бизнесы.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Демо: 04.07–01.10.2026, 90 дней. Источник: backend/app/services/demo.py и .tmp/presentation-mvp/facts.json. Новые снимки получены в отдельной локальной демо-базе на 127.0.0.1:8019. Для формы импорта и русскоязычного обзора использованы предоставленные проектом снимки output/screenshots/06-imports.png и 02-dashboard.png с тем же демо-набором. Рабочая база пользователя не использовалась.</a:t>
            </a:r>
          </a:p>
          <a:p xmlns:a="http://schemas.openxmlformats.org/drawingml/2006/main">
            <a:r>
              <a:t>Источники: frontend/src/translations.ts, backend/app/core/i18n.py, docs/ACCOUNTS_AND_LANGUAGE_GUIDE.md. Перевод охватывает формы и ошибки импорта, меню, даты, сравнение, прогноз, сигналы, советник, PDF. Названия из импортированных данных не переводятся. Выбор языка сохраняется в браузере.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Демо: 04.07–01.10.2026, 90 дней. Источник: backend/app/services/demo.py и .tmp/presentation-mvp/facts.json. Новые снимки получены в отдельной локальной демо-базе на 127.0.0.1:8019. Для формы импорта и русскоязычного обзора использованы предоставленные проектом снимки output/screenshots/06-imports.png и 02-dashboard.png с тем же демо-набором. Рабочая база пользователя не использовалась.</a:t>
            </a:r>
          </a:p>
          <a:p xmlns:a="http://schemas.openxmlformats.org/drawingml/2006/main">
            <a:r>
              <a:t>Источники: backend/app/services/advisor.py, backend/scripts/start_desktop.py, docs/LLM_ADVISOR_GUIDE.md. start-local.ps1 принудительно отключает внешние LLM и ключи для процесса. Текущий советник использует локальные шаблоны и проверенные агрегаты backend, токены не расходует. История временная, в БД не хранится. Gemini/OpenAI являются опциональными интеграциями режима разработки. Внешний вызов требует настройки провайдера, ключа и согласия. Реальная проверка провайдеров в текущем локальном выпуске не заявляется.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Демо: 04.07–01.10.2026, 90 дней. Источник: backend/app/services/demo.py и .tmp/presentation-mvp/facts.json. Новые снимки получены в отдельной локальной демо-базе на 127.0.0.1:8019. Для формы импорта и русскоязычного обзора использованы предоставленные проектом снимки output/screenshots/06-imports.png и 02-dashboard.png с тем же демо-набором. Рабочая база пользователя не использовалась.</a:t>
            </a:r>
          </a:p>
          <a:p xmlns:a="http://schemas.openxmlformats.org/drawingml/2006/main">
            <a:r>
              <a:t>Источники: backend/app/services/reports.py и .tmp/presentation-mvp/report-kk.pdf. Сервис локально формирует PDF на выбранном языке. Отчёт включает KPI, расходы, товары, сигналы, исходные строки и рекомендации. Дополнительно отражает состояние анализа. Шрифт DejaVu Sans поддерживает Ә Ғ Қ Ң Ө Ұ Ү Һ І. PDF не вызывает LLM.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Источники: start-local.ps1, backend/scripts/start_desktop.py, docs/LOCAL_RELEASE.md. После установки Python-зависимостей start-local.ps1 применяет миграции и запускает FastAPI с готовым frontend. Node не нужен для обычного запуска из релизного архива. SQLite хранится на компьютере. Сервер слушает loopback. Резервное копирование проверено, восстановление выполняется в новый файл. Физический телефон и внешняя сеть не входят в локальный выпуск.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HANDOFF.md (17.10.2026), REQUIREMENTS.md, действующий backend и frontend проекта D:/SaduakasA/ProfitLeak. Исходная презентация: C:/Users/baber/Downloads/ProfitLeak_AI_Presentation.pdf. Все примеры финансов в презентации используют синтетический набор «Кафе Тараз», не результаты реального бизнеса.</a:t>
            </a:r>
          </a:p>
          <a:p xmlns:a="http://schemas.openxmlformats.org/drawingml/2006/main">
            <a:r>
              <a:t>Источник результатов проверок: HANDOFF.md, локальный выпуск от 17.10.2026. 270 backend-тестов, 11 frontend-тестов, production-сборка. Проверены браузерный импорт, PDF RU/ҚАЗ, реальный перезапуск и backup/restore SQLite. Это технические проверки. Проект пока не доказывает экономию, рыночный спрос или точность прогнозов на данных клиентов. Следующий предлагаемый этап: пилот на реальных данных бизнеса с проверкой качества импорта, сигналов и прогноза. Публичная публикация исключена из текущего объёма по решению владельца.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6a24770b44b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8e8f60efd74e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1153707ed24d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a2334daa143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6b1acfbbc45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7dfd4648a244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0B5569-8366-488A-9EC3-1E8B1E393C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1E6500B-9464-47D5-AA34-23DAE5CB1F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C32152-D8A5-4ED0-AA53-F26DEFC891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B421FD-2939-432D-9248-C79679AD43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9DE015-9236-4A95-A81D-44F2F8D019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9E0488F-8225-476D-A792-7452F2AA6E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16B95C-4C98-41CF-8F5C-28FEB0A5B4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1C65B0-C6DB-443D-9D5C-5A0C105D90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F61CAF-EFCD-45E2-8F91-862CCFE3C1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4712974-307A-44BD-B7CC-C5742E84D7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fa0d6f3b5d47af" /><Relationship Type="http://schemas.openxmlformats.org/officeDocument/2006/relationships/slideLayout" Target="/ppt/slideLayouts/slideLayout1.xml" Id="Rced25676764a421d" /><Relationship Type="http://schemas.openxmlformats.org/officeDocument/2006/relationships/slideLayout" Target="/ppt/slideLayouts/slideLayout2.xml" Id="R1a17dd9ec9bd4967" /><Relationship Type="http://schemas.openxmlformats.org/officeDocument/2006/relationships/slideLayout" Target="/ppt/slideLayouts/slideLayout3.xml" Id="R2af8a19cd58a4a96" /><Relationship Type="http://schemas.openxmlformats.org/officeDocument/2006/relationships/slideLayout" Target="/ppt/slideLayouts/slideLayout4.xml" Id="R142b79a86760410e" /><Relationship Type="http://schemas.openxmlformats.org/officeDocument/2006/relationships/slideLayout" Target="/ppt/slideLayouts/slideLayout5.xml" Id="R4a1d40ccac174347" /><Relationship Type="http://schemas.openxmlformats.org/officeDocument/2006/relationships/slideLayout" Target="/ppt/slideLayouts/slideLayout6.xml" Id="Ra4c0078e6e244c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d25676764a421d"/>
    <p:sldLayoutId xmlns:r="http://schemas.openxmlformats.org/officeDocument/2006/relationships" id="2147483650" r:id="R1a17dd9ec9bd4967"/>
    <p:sldLayoutId xmlns:r="http://schemas.openxmlformats.org/officeDocument/2006/relationships" id="2147483651" r:id="R2af8a19cd58a4a96"/>
    <p:sldLayoutId xmlns:r="http://schemas.openxmlformats.org/officeDocument/2006/relationships" id="2147483652" r:id="R142b79a86760410e"/>
    <p:sldLayoutId xmlns:r="http://schemas.openxmlformats.org/officeDocument/2006/relationships" id="2147483653" r:id="R4a1d40ccac174347"/>
    <p:sldLayoutId xmlns:r="http://schemas.openxmlformats.org/officeDocument/2006/relationships" id="2147483654" r:id="Ra4c0078e6e244c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rofitLeak">
      <a:dk1>
        <a:srgbClr val="1B3530"/>
      </a:dk1>
      <a:lt1>
        <a:srgbClr val="FFFFFF"/>
      </a:lt1>
      <a:dk2>
        <a:srgbClr val="103D32"/>
      </a:dk2>
      <a:lt2>
        <a:srgbClr val="F3F7F4"/>
      </a:lt2>
      <a:accent1>
        <a:srgbClr val="008E7F"/>
      </a:accent1>
      <a:accent2>
        <a:srgbClr val="BCD8CA"/>
      </a:accent2>
      <a:accent3>
        <a:srgbClr val="C17145"/>
      </a:accent3>
      <a:accent4>
        <a:srgbClr val="A44E42"/>
      </a:accent4>
      <a:accent5>
        <a:srgbClr val="A1B9CC"/>
      </a:accent5>
      <a:accent6>
        <a:srgbClr val="DBC179"/>
      </a:accent6>
      <a:hlink>
        <a:srgbClr val="008E7F"/>
      </a:hlink>
      <a:folHlink>
        <a:srgbClr val="008E7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rofitLea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2fb0a5826c43ca" /><Relationship Type="http://schemas.openxmlformats.org/officeDocument/2006/relationships/notesSlide" Target="/ppt/notesSlides/notesSlide1.xml" Id="R7efb796101054b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d87985b704842" /><Relationship Type="http://schemas.openxmlformats.org/officeDocument/2006/relationships/notesSlide" Target="/ppt/notesSlides/notesSlide2.xml" Id="R7a5b831c6a114a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51eb247b2d413e" /><Relationship Type="http://schemas.openxmlformats.org/officeDocument/2006/relationships/image" Target="/ppt/media/image.png" Id="R50e6c9c99cc84724" /><Relationship Type="http://schemas.openxmlformats.org/officeDocument/2006/relationships/notesSlide" Target="/ppt/notesSlides/notesSlide3.xml" Id="R185a31e47d8245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a9e48575ec4189" /><Relationship Type="http://schemas.openxmlformats.org/officeDocument/2006/relationships/image" Target="/ppt/media/image2.png" Id="Rd0eca8d36396485c" /><Relationship Type="http://schemas.openxmlformats.org/officeDocument/2006/relationships/notesSlide" Target="/ppt/notesSlides/notesSlide4.xml" Id="R01466a9f472448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3de9b9f4fb413d" /><Relationship Type="http://schemas.openxmlformats.org/officeDocument/2006/relationships/notesSlide" Target="/ppt/notesSlides/notesSlide5.xml" Id="Rfdb5a3e9a45643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51730589214d17" /><Relationship Type="http://schemas.openxmlformats.org/officeDocument/2006/relationships/notesSlide" Target="/ppt/notesSlides/notesSlide6.xml" Id="R44ea1865004f48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d9dec3902344d1" /><Relationship Type="http://schemas.openxmlformats.org/officeDocument/2006/relationships/chart" Target="/ppt/slides/charts/chart1.xml" Id="R48c6a88f47544d34" /><Relationship Type="http://schemas.openxmlformats.org/officeDocument/2006/relationships/image" Target="/ppt/media/image3.png" Id="Rb018cff9317c4bab" /><Relationship Type="http://schemas.openxmlformats.org/officeDocument/2006/relationships/notesSlide" Target="/ppt/notesSlides/notesSlide7.xml" Id="Rb1e1d6a6c5ae45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f8351daead414b" /><Relationship Type="http://schemas.openxmlformats.org/officeDocument/2006/relationships/chart" Target="/ppt/slides/charts/chart2.xml" Id="R1e22360240024511" /><Relationship Type="http://schemas.openxmlformats.org/officeDocument/2006/relationships/notesSlide" Target="/ppt/notesSlides/notesSlide8.xml" Id="Re79716b49c934f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1855c40d0547f0" /><Relationship Type="http://schemas.openxmlformats.org/officeDocument/2006/relationships/chart" Target="/ppt/slides/charts/chart3.xml" Id="R3e63d5fbcaa549da" /><Relationship Type="http://schemas.openxmlformats.org/officeDocument/2006/relationships/image" Target="/ppt/media/image4.png" Id="Rce0ed6c362a44222" /><Relationship Type="http://schemas.openxmlformats.org/officeDocument/2006/relationships/notesSlide" Target="/ppt/notesSlides/notesSlide9.xml" Id="Rc2c9300f20ab4a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28ff40468a4638" /><Relationship Type="http://schemas.openxmlformats.org/officeDocument/2006/relationships/notesSlide" Target="/ppt/notesSlides/notesSlide10.xml" Id="Rb35b312dabbb4d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1980142114ac9" /><Relationship Type="http://schemas.openxmlformats.org/officeDocument/2006/relationships/image" Target="/ppt/media/image5.png" Id="R2b5be4067d0e42b9" /><Relationship Type="http://schemas.openxmlformats.org/officeDocument/2006/relationships/notesSlide" Target="/ppt/notesSlides/notesSlide11.xml" Id="R0b01db8f959b4e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c1289a0adb428e" /><Relationship Type="http://schemas.openxmlformats.org/officeDocument/2006/relationships/image" Target="/ppt/media/image6.png" Id="R4a0fd18abeda4da4" /><Relationship Type="http://schemas.openxmlformats.org/officeDocument/2006/relationships/notesSlide" Target="/ppt/notesSlides/notesSlide12.xml" Id="R178e054a7c934a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1bf0b82b814e23" /><Relationship Type="http://schemas.openxmlformats.org/officeDocument/2006/relationships/image" Target="/ppt/media/image7.png" Id="Rbbaa2090cdd948c9" /><Relationship Type="http://schemas.openxmlformats.org/officeDocument/2006/relationships/notesSlide" Target="/ppt/notesSlides/notesSlide13.xml" Id="R7b5658c0886243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444a88b11f4e3b" /><Relationship Type="http://schemas.openxmlformats.org/officeDocument/2006/relationships/notesSlide" Target="/ppt/notesSlides/notesSlide14.xml" Id="R7ba1b15363a042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519bba292448a3" /><Relationship Type="http://schemas.openxmlformats.org/officeDocument/2006/relationships/notesSlide" Target="/ppt/notesSlides/notesSlide15.xml" Id="R4d061e43ea0c40a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Расходы</c:v>
          </c:tx>
          <c:spPr>
            <a:solidFill xmlns:a="http://schemas.openxmlformats.org/drawingml/2006/main">
              <a:srgbClr val="008E7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BCD8C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8E7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Базовый период</c:v>
                </c:pt>
                <c:pt idx="1">
                  <c:v>Текущий период</c:v>
                </c:pt>
              </c:strCache>
            </c:strRef>
          </c:cat>
          <c:val>
            <c:numRef>
              <c:f>'Chart Data'!$B$2:$B$3</c:f>
              <c:numCache>
                <c:formatCode>#,##0 "₸"</c:formatCode>
                <c:ptCount val="2"/>
                <c:pt idx="0">
                  <c:v>30000</c:v>
                </c:pt>
                <c:pt idx="1">
                  <c:v>46500</c:v>
                </c:pt>
              </c:numCache>
            </c:numRef>
          </c:val>
        </c:ser>
        <c:dLbls>
          <c:numFmt formatCode="#,##0 &quot;₸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B353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5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5DE"/>
              </a:solidFill>
            </a:ln>
          </c:spPr>
        </c:majorGridlines>
        <c:numFmt formatCode="#,##0 &quot;₸&quot;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3F7F4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3F7F4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Базовый</c:v>
          </c:tx>
          <c:spPr>
            <a:solidFill xmlns:a="http://schemas.openxmlformats.org/drawingml/2006/main">
              <a:srgbClr val="BCD8C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Выручка</c:v>
                </c:pt>
                <c:pt idx="1">
                  <c:v>Себестоимость</c:v>
                </c:pt>
                <c:pt idx="2">
                  <c:v>Опер. прибыль</c:v>
                </c:pt>
              </c:strCache>
            </c:strRef>
          </c:cat>
          <c:val>
            <c:numRef>
              <c:f>'Chart Data'!$B$2:$B$4</c:f>
              <c:numCache>
                <c:formatCode>#,##0.0</c:formatCode>
                <c:ptCount val="3"/>
                <c:pt idx="0">
                  <c:v>1818</c:v>
                </c:pt>
                <c:pt idx="1">
                  <c:v>712.5</c:v>
                </c:pt>
                <c:pt idx="2">
                  <c:v>865.5</c:v>
                </c:pt>
              </c:numCache>
            </c:numRef>
          </c:val>
        </c:ser>
        <c:ser>
          <c:idx val="1"/>
          <c:order val="1"/>
          <c:tx>
            <c:v>Текущий</c:v>
          </c:tx>
          <c:spPr>
            <a:solidFill xmlns:a="http://schemas.openxmlformats.org/drawingml/2006/main">
              <a:srgbClr val="008E7F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Выручка</c:v>
                </c:pt>
                <c:pt idx="1">
                  <c:v>Себестоимость</c:v>
                </c:pt>
                <c:pt idx="2">
                  <c:v>Опер. прибыль</c:v>
                </c:pt>
              </c:strCache>
            </c:strRef>
          </c:cat>
          <c:val>
            <c:numRef>
              <c:f>'Chart Data'!$D$2:$D$4</c:f>
              <c:numCache>
                <c:formatCode>#,##0.0</c:formatCode>
                <c:ptCount val="3"/>
                <c:pt idx="0">
                  <c:v>1818</c:v>
                </c:pt>
                <c:pt idx="1">
                  <c:v>1050</c:v>
                </c:pt>
                <c:pt idx="2">
                  <c:v>511.5</c:v>
                </c:pt>
              </c:numCache>
            </c:numRef>
          </c:val>
        </c:ser>
        <c:dLbls>
          <c:numFmt formatCode="#,##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B353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5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5DE"/>
              </a:solidFill>
            </a:ln>
          </c:spPr>
        </c:majorGridlines>
        <c:numFmt formatCode="#,##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3F7F4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5D746C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3F7F4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Прибыль</c:v>
          </c:tx>
          <c:spPr>
            <a:solidFill xmlns:a="http://schemas.openxmlformats.org/drawingml/2006/main">
              <a:srgbClr val="008E7F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BCD8C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8E7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База</c:v>
                </c:pt>
                <c:pt idx="1">
                  <c:v>Сценарий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511500</c:v>
                </c:pt>
                <c:pt idx="1">
                  <c:v>601125</c:v>
                </c:pt>
              </c:numCache>
            </c:numRef>
          </c:val>
        </c:ser>
        <c:dLbls>
          <c:numFmt formatCode="#,##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B3530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5D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5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5DE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3F7F4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3F7F4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89197124-6837-4CD7-BFE7-FE8109CC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CD8C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ProfitLeak AI">
            <a:extLst xmlns:a="http://schemas.openxmlformats.org/drawingml/2006/main">
              <a:ext uri="{FF2B5EF4-FFF2-40B4-BE49-F238E27FC236}">
                <a16:creationId xmlns:a16="http://schemas.microsoft.com/office/drawing/2014/main" id="{3E96F9D7-8155-41A4-906E-C442781A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3335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7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ProfitLeak AI</a:t>
            </a:r>
          </a:p>
        </p:txBody>
      </p:sp>
      <p:sp>
        <p:nvSpPr>
          <p:cNvPr id="3" name="Финансовая аналитика">
            <a:extLst xmlns:a="http://schemas.openxmlformats.org/drawingml/2006/main">
              <a:ext uri="{FF2B5EF4-FFF2-40B4-BE49-F238E27FC236}">
                <a16:creationId xmlns:a16="http://schemas.microsoft.com/office/drawing/2014/main" id="{D94FA4BC-5A9B-43E5-9665-3E3A5526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285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pPr>
            <a:r>
              <a:rPr sz="4200" b="0">
                <a:solidFill>
                  <a:srgbClr val="BCD8CA"/>
                </a:solidFill>
                <a:latin typeface="Arial"/>
                <a:ea typeface="Arial"/>
                <a:cs typeface="Arial"/>
              </a:rPr>
              <a:t>Финансовая аналитика</a:t>
            </a:r>
          </a:p>
          <a:p xmlns:a="http://schemas.openxmlformats.org/drawingml/2006/main">
            <a:pPr algn="l">
              <a:defRPr sz="42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pPr>
            <a:r>
              <a:rPr sz="4200" b="0">
                <a:solidFill>
                  <a:srgbClr val="BCD8CA"/>
                </a:solidFill>
                <a:latin typeface="Arial"/>
                <a:ea typeface="Arial"/>
                <a:cs typeface="Arial"/>
              </a:rPr>
              <a:t>для малого бизнеса</a:t>
            </a:r>
          </a:p>
        </p:txBody>
      </p:sp>
      <p:sp>
        <p:nvSpPr>
          <p:cNvPr id="4" name="Поиск потерь прибыли, сравнение периодов и планирование">
            <a:extLst xmlns:a="http://schemas.openxmlformats.org/drawingml/2006/main">
              <a:ext uri="{FF2B5EF4-FFF2-40B4-BE49-F238E27FC236}">
                <a16:creationId xmlns:a16="http://schemas.microsoft.com/office/drawing/2014/main" id="{A243F112-CC93-44F6-9137-59EF09EE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62625"/>
            <a:ext cx="1285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Поиск потерь прибыли, сравнение периодов и планирование</a:t>
            </a:r>
          </a:p>
        </p:txBody>
      </p:sp>
      <p:sp>
        <p:nvSpPr>
          <p:cNvPr id="5" name="Локальный MVP   /   17 октября 2026">
            <a:extLst xmlns:a="http://schemas.openxmlformats.org/drawingml/2006/main">
              <a:ext uri="{FF2B5EF4-FFF2-40B4-BE49-F238E27FC236}">
                <a16:creationId xmlns:a16="http://schemas.microsoft.com/office/drawing/2014/main" id="{75F69524-6727-443E-8F38-508521D6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477125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CD8CA"/>
                </a:solidFill>
                <a:latin typeface="Arial"/>
                <a:ea typeface="Arial"/>
                <a:cs typeface="Arial"/>
              </a:rPr>
              <a:t>Локальный MVP   /   17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394076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Задача владельца бизнеса">
            <a:extLst xmlns:a="http://schemas.openxmlformats.org/drawingml/2006/main">
              <a:ext uri="{FF2B5EF4-FFF2-40B4-BE49-F238E27FC236}">
                <a16:creationId xmlns:a16="http://schemas.microsoft.com/office/drawing/2014/main" id="{FD4A98FD-AC1E-437F-9586-9A8A4D59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Задача владельца бизнеса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FF2F5C80-45B6-4492-A951-54BCAA9E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Стабильная выручка ещё">
            <a:extLst xmlns:a="http://schemas.openxmlformats.org/drawingml/2006/main">
              <a:ext uri="{FF2B5EF4-FFF2-40B4-BE49-F238E27FC236}">
                <a16:creationId xmlns:a16="http://schemas.microsoft.com/office/drawing/2014/main" id="{13B2D6F8-0588-4ADF-9803-52B8EA2E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381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Стабильная выручка ещё</a:t>
            </a:r>
          </a:p>
          <a:p xmlns:a="http://schemas.openxmlformats.org/drawingml/2006/main">
            <a:pPr algn="l">
              <a:defRPr sz="46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не означает стабильную прибыль</a:t>
            </a:r>
          </a:p>
        </p:txBody>
      </p:sp>
      <p:sp>
        <p:nvSpPr>
          <p:cNvPr id="4" name="Для кафе и магазинов, которые ведут продажи и расходы">
            <a:extLst xmlns:a="http://schemas.openxmlformats.org/drawingml/2006/main">
              <a:ext uri="{FF2B5EF4-FFF2-40B4-BE49-F238E27FC236}">
                <a16:creationId xmlns:a16="http://schemas.microsoft.com/office/drawing/2014/main" id="{7F8600B7-46B6-44C4-B4BF-2CD863AD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90925"/>
            <a:ext cx="1314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Для кафе и магазинов, которые ведут продажи и расходы</a:t>
            </a:r>
          </a:p>
          <a:p xmlns:a="http://schemas.openxmlformats.org/drawingml/2006/main">
            <a:pPr algn="l">
              <a:defRPr sz="24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в CSV или Excel и хотят понять причины изменений.</a:t>
            </a:r>
          </a:p>
        </p:txBody>
      </p:sp>
      <p:sp>
        <p:nvSpPr>
          <p:cNvPr id="5" name="Какие вопросы возникают">
            <a:extLst xmlns:a="http://schemas.openxmlformats.org/drawingml/2006/main">
              <a:ext uri="{FF2B5EF4-FFF2-40B4-BE49-F238E27FC236}">
                <a16:creationId xmlns:a16="http://schemas.microsoft.com/office/drawing/2014/main" id="{5CA41D96-B722-460A-8CEB-65E76B0B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Какие вопросы возникают</a:t>
            </a:r>
          </a:p>
        </p:txBody>
      </p:sp>
      <p:sp>
        <p:nvSpPr>
          <p:cNvPr id="6" name="Почему выросли затраты?">
            <a:extLst xmlns:a="http://schemas.openxmlformats.org/drawingml/2006/main">
              <a:ext uri="{FF2B5EF4-FFF2-40B4-BE49-F238E27FC236}">
                <a16:creationId xmlns:a16="http://schemas.microsoft.com/office/drawing/2014/main" id="{18AE2DE0-1FA2-426B-8EDB-D798717D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198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Почему выросли затраты?</a:t>
            </a:r>
          </a:p>
          <a:p xmlns:a="http://schemas.openxmlformats.org/drawingml/2006/main">
            <a: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Какие товары теряют маржу?</a:t>
            </a:r>
          </a:p>
          <a:p xmlns:a="http://schemas.openxmlformats.org/drawingml/2006/main">
            <a: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Какие платежи стоит перепроверить?</a:t>
            </a:r>
          </a:p>
        </p:txBody>
      </p:sp>
      <p:sp>
        <p:nvSpPr>
          <p:cNvPr id="7" name="Что показывает ProfitLeak">
            <a:extLst xmlns:a="http://schemas.openxmlformats.org/drawingml/2006/main">
              <a:ext uri="{FF2B5EF4-FFF2-40B4-BE49-F238E27FC236}">
                <a16:creationId xmlns:a16="http://schemas.microsoft.com/office/drawing/2014/main" id="{2773E950-1445-4C1B-9F8D-53CBD0D1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387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Что показывает ProfitLeak</a:t>
            </a:r>
          </a:p>
        </p:txBody>
      </p:sp>
      <p:sp>
        <p:nvSpPr>
          <p:cNvPr id="8" name="Расчёт по загруженным операциям">
            <a:extLst xmlns:a="http://schemas.openxmlformats.org/drawingml/2006/main">
              <a:ext uri="{FF2B5EF4-FFF2-40B4-BE49-F238E27FC236}">
                <a16:creationId xmlns:a16="http://schemas.microsoft.com/office/drawing/2014/main" id="{C4C7657C-B185-4A22-8529-196581F9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01980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Расчёт по загруженным операциям</a:t>
            </a:r>
          </a:p>
          <a:p xmlns:a="http://schemas.openxmlformats.org/drawingml/2006/main">
            <a: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Сравнение с предыдущим периодом</a:t>
            </a:r>
          </a:p>
          <a:p xmlns:a="http://schemas.openxmlformats.org/drawingml/2006/main">
            <a: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Сигнал с формулой и исходными строками</a:t>
            </a:r>
          </a:p>
        </p:txBody>
      </p:sp>
    </p:spTree>
    <p:extLst>
      <p:ext uri="{BB962C8B-B14F-4D97-AF65-F5344CB8AC3E}">
        <p14:creationId xmlns:p14="http://schemas.microsoft.com/office/powerpoint/2010/main" val="1215175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Импорт с проверкой до сохранения">
            <a:extLst xmlns:a="http://schemas.openxmlformats.org/drawingml/2006/main">
              <a:ext uri="{FF2B5EF4-FFF2-40B4-BE49-F238E27FC236}">
                <a16:creationId xmlns:a16="http://schemas.microsoft.com/office/drawing/2014/main" id="{ED4F0885-0B77-4E0A-AFF1-8EE15318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Импорт с проверкой до сохранения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295909AA-1606-44C7-89F7-3C6449D6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709D40C2-A5EB-4028-9836-33E413D0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одажи, расходы">
            <a:extLst xmlns:a="http://schemas.openxmlformats.org/drawingml/2006/main">
              <a:ext uri="{FF2B5EF4-FFF2-40B4-BE49-F238E27FC236}">
                <a16:creationId xmlns:a16="http://schemas.microsoft.com/office/drawing/2014/main" id="{5DD84A65-A153-4754-8ACE-53AE4FE3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390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Продажи, расходы</a:t>
            </a:r>
          </a:p>
          <a:p xmlns:a="http://schemas.openxmlformats.org/drawingml/2006/main">
            <a: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или товары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6F49F313-F293-4135-8BCA-6E25DEC1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Предпросмотр">
            <a:extLst xmlns:a="http://schemas.openxmlformats.org/drawingml/2006/main">
              <a:ext uri="{FF2B5EF4-FFF2-40B4-BE49-F238E27FC236}">
                <a16:creationId xmlns:a16="http://schemas.microsoft.com/office/drawing/2014/main" id="{795957E7-3EFB-435D-A234-7E0D2817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Предпросмотр</a:t>
            </a:r>
          </a:p>
          <a:p xmlns:a="http://schemas.openxmlformats.org/drawingml/2006/main">
            <a: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и ошибки по строкам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A2545652-6C14-43F5-8F4B-6DEEAAB1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Подтверждение">
            <a:extLst xmlns:a="http://schemas.openxmlformats.org/drawingml/2006/main">
              <a:ext uri="{FF2B5EF4-FFF2-40B4-BE49-F238E27FC236}">
                <a16:creationId xmlns:a16="http://schemas.microsoft.com/office/drawing/2014/main" id="{DFA9301A-F380-442B-A4C5-4E36C9C0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3415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  <a:p xmlns:a="http://schemas.openxmlformats.org/drawingml/2006/main">
            <a: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и история загрузок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7C649-7593-40CB-B404-476BAD423C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6c9c99cc84724"/>
          <a:stretch xmlns:a="http://schemas.openxmlformats.org/drawingml/2006/main"/>
        </p:blipFill>
        <p:spPr>
          <a:xfrm xmlns:a="http://schemas.openxmlformats.org/drawingml/2006/main">
            <a:off x="5219700" y="1809750"/>
            <a:ext cx="9258300" cy="5562600"/>
          </a:xfrm>
          <a:prstGeom xmlns:a="http://schemas.openxmlformats.org/drawingml/2006/main" prst="rect">
            <a:avLst/>
          </a:prstGeom>
        </p:spPr>
      </p:pic>
      <p:sp>
        <p:nvSpPr>
          <p:cNvPr id="10" name="CSV и XLSX до 10 МБ. Повторное содержимое не создаёт ещё один имп">
            <a:extLst xmlns:a="http://schemas.openxmlformats.org/drawingml/2006/main">
              <a:ext uri="{FF2B5EF4-FFF2-40B4-BE49-F238E27FC236}">
                <a16:creationId xmlns:a16="http://schemas.microsoft.com/office/drawing/2014/main" id="{570E0FA4-BEBF-40B5-987B-694336BA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1304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CSV и XLSX до 10 МБ. Повторное содержимое не создаёт ещё один импорт.</a:t>
            </a:r>
          </a:p>
        </p:txBody>
      </p:sp>
    </p:spTree>
    <p:extLst>
      <p:ext uri="{BB962C8B-B14F-4D97-AF65-F5344CB8AC3E}">
        <p14:creationId xmlns:p14="http://schemas.microsoft.com/office/powerpoint/2010/main" val="633262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Финансы за выбранный период">
            <a:extLst xmlns:a="http://schemas.openxmlformats.org/drawingml/2006/main">
              <a:ext uri="{FF2B5EF4-FFF2-40B4-BE49-F238E27FC236}">
                <a16:creationId xmlns:a16="http://schemas.microsoft.com/office/drawing/2014/main" id="{CAA249FB-BACB-43E3-8C28-96EA572A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Финансы за выбранный период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6CDBD8A9-755D-4B07-B8D6-C0D568BF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5 454 000 ₸">
            <a:extLst xmlns:a="http://schemas.openxmlformats.org/drawingml/2006/main">
              <a:ext uri="{FF2B5EF4-FFF2-40B4-BE49-F238E27FC236}">
                <a16:creationId xmlns:a16="http://schemas.microsoft.com/office/drawing/2014/main" id="{93716005-03B4-45F6-8FC8-19FA5AA0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5 454 000 ₸</a:t>
            </a:r>
          </a:p>
        </p:txBody>
      </p:sp>
      <p:sp>
        <p:nvSpPr>
          <p:cNvPr id="4" name="Выручка">
            <a:extLst xmlns:a="http://schemas.openxmlformats.org/drawingml/2006/main">
              <a:ext uri="{FF2B5EF4-FFF2-40B4-BE49-F238E27FC236}">
                <a16:creationId xmlns:a16="http://schemas.microsoft.com/office/drawing/2014/main" id="{3DFEAA76-5FBE-4DED-B551-ECDC91F1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9875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Выручка</a:t>
            </a:r>
          </a:p>
        </p:txBody>
      </p:sp>
      <p:sp>
        <p:nvSpPr>
          <p:cNvPr id="5" name="2 242 500 ₸">
            <a:extLst xmlns:a="http://schemas.openxmlformats.org/drawingml/2006/main">
              <a:ext uri="{FF2B5EF4-FFF2-40B4-BE49-F238E27FC236}">
                <a16:creationId xmlns:a16="http://schemas.microsoft.com/office/drawing/2014/main" id="{A05F793C-7E5A-4D62-9CE8-0C02CC66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2 242 500 ₸</a:t>
            </a:r>
          </a:p>
        </p:txBody>
      </p:sp>
      <p:sp>
        <p:nvSpPr>
          <p:cNvPr id="6" name="Операционная прибыль">
            <a:extLst xmlns:a="http://schemas.openxmlformats.org/drawingml/2006/main">
              <a:ext uri="{FF2B5EF4-FFF2-40B4-BE49-F238E27FC236}">
                <a16:creationId xmlns:a16="http://schemas.microsoft.com/office/drawing/2014/main" id="{26211BC1-1363-4C1A-B2DD-789C7C13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Операционная прибыль</a:t>
            </a:r>
          </a:p>
          <a:p xmlns:a="http://schemas.openxmlformats.org/drawingml/2006/main">
            <a: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после себестоимости и расходов</a:t>
            </a:r>
          </a:p>
        </p:txBody>
      </p:sp>
      <p:sp>
        <p:nvSpPr>
          <p:cNvPr id="7" name="54,62%">
            <a:extLst xmlns:a="http://schemas.openxmlformats.org/drawingml/2006/main">
              <a:ext uri="{FF2B5EF4-FFF2-40B4-BE49-F238E27FC236}">
                <a16:creationId xmlns:a16="http://schemas.microsoft.com/office/drawing/2014/main" id="{FFA9F5AA-8B38-40BC-8270-496CFEEE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15100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54,62%</a:t>
            </a:r>
          </a:p>
        </p:txBody>
      </p:sp>
      <p:sp>
        <p:nvSpPr>
          <p:cNvPr id="8" name="Валовая маржа">
            <a:extLst xmlns:a="http://schemas.openxmlformats.org/drawingml/2006/main">
              <a:ext uri="{FF2B5EF4-FFF2-40B4-BE49-F238E27FC236}">
                <a16:creationId xmlns:a16="http://schemas.microsoft.com/office/drawing/2014/main" id="{DB2462C8-7BEC-4A95-97ED-3470B04B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19950"/>
            <a:ext cx="438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Валовая маржа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290C3-6974-4E83-987E-0F6AA6AC7F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ca8d36396485c"/>
          <a:stretch xmlns:a="http://schemas.openxmlformats.org/drawingml/2006/main"/>
        </p:blipFill>
        <p:spPr>
          <a:xfrm xmlns:a="http://schemas.openxmlformats.org/drawingml/2006/main">
            <a:off x="5410200" y="2030380"/>
            <a:ext cx="9144000" cy="5359465"/>
          </a:xfrm>
          <a:prstGeom xmlns:a="http://schemas.openxmlformats.org/drawingml/2006/main" prst="rect">
            <a:avLst/>
          </a:prstGeom>
        </p:spPr>
      </p:pic>
      <p:sp>
        <p:nvSpPr>
          <p:cNvPr id="10" name="Синтетические данные «Кафе Тараз». 04.07–01.10.2026, 90 дней. Все">
            <a:extLst xmlns:a="http://schemas.openxmlformats.org/drawingml/2006/main">
              <a:ext uri="{FF2B5EF4-FFF2-40B4-BE49-F238E27FC236}">
                <a16:creationId xmlns:a16="http://schemas.microsoft.com/office/drawing/2014/main" id="{9C104C99-94E9-4A2E-BAA1-2DCF992C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1304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Синтетические данные «Кафе Тараз». 04.07–01.10.2026, 90 дней. Все суммы в тенге.</a:t>
            </a:r>
          </a:p>
        </p:txBody>
      </p:sp>
    </p:spTree>
    <p:extLst>
      <p:ext uri="{BB962C8B-B14F-4D97-AF65-F5344CB8AC3E}">
        <p14:creationId xmlns:p14="http://schemas.microsoft.com/office/powerpoint/2010/main" val="2121768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ибыльность каждого товара">
            <a:extLst xmlns:a="http://schemas.openxmlformats.org/drawingml/2006/main">
              <a:ext uri="{FF2B5EF4-FFF2-40B4-BE49-F238E27FC236}">
                <a16:creationId xmlns:a16="http://schemas.microsoft.com/office/drawing/2014/main" id="{DF677B3C-F685-4EFD-BDBD-37DFD329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Прибыльность каждого товара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C7A4C38A-6EE2-485F-A1F7-CA89043B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Выручка и себестоимость показывают вклад позиции">
            <a:extLst xmlns:a="http://schemas.openxmlformats.org/drawingml/2006/main">
              <a:ext uri="{FF2B5EF4-FFF2-40B4-BE49-F238E27FC236}">
                <a16:creationId xmlns:a16="http://schemas.microsoft.com/office/drawing/2014/main" id="{3C628BFE-13FF-43AA-ACB9-67CDBA60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1362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Выручка и себестоимость показывают вклад позиции</a:t>
            </a:r>
          </a:p>
          <a:p xmlns:a="http://schemas.openxmlformats.org/drawingml/2006/main">
            <a:pPr algn="l">
              <a:defRPr sz="3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в валовую прибыль бизнеса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F0E9C-995D-4532-95D4-63B78F94D494}"/>
              </a:ext>
            </a:extLst>
          </p:cNvPr>
          <p:cNvGraphicFramePr/>
          <p:nvPr/>
        </p:nvGraphicFramePr>
        <p:xfrm>
          <a:off xmlns:a="http://schemas.openxmlformats.org/drawingml/2006/main" x="685800" y="3238500"/>
          <a:ext xmlns:a="http://schemas.openxmlformats.org/drawingml/2006/main" cx="13868400" cy="3190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09800"/>
                <a:gridCol w="2952750"/>
                <a:gridCol w="2952750"/>
                <a:gridCol w="3429000"/>
                <a:gridCol w="2324100"/>
              </a:tblGrid>
              <a:tr h="797719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Товар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T w="6668">
                      <a:solidFill>
                        <a:srgbClr val="D9E5DE"/>
                      </a:solidFill>
                      <a:prstDash val="solid"/>
                    </a:lnT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103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Выручка, ₸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T w="6668">
                      <a:solidFill>
                        <a:srgbClr val="D9E5DE"/>
                      </a:solidFill>
                      <a:prstDash val="solid"/>
                    </a:lnT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103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Себестоимость, ₸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T w="6668">
                      <a:solidFill>
                        <a:srgbClr val="D9E5DE"/>
                      </a:solidFill>
                      <a:prstDash val="solid"/>
                    </a:lnT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103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Валовая прибыль, ₸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T w="6668">
                      <a:solidFill>
                        <a:srgbClr val="D9E5DE"/>
                      </a:solidFill>
                      <a:prstDash val="solid"/>
                    </a:lnT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103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Маржа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T w="6668">
                      <a:solidFill>
                        <a:srgbClr val="D9E5DE"/>
                      </a:solidFill>
                      <a:prstDash val="solid"/>
                    </a:lnT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103D32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Кофе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2 700 000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1 350 000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1 350 000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50,00%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Сэндвич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1 620 000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720 000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900 000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55,56%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</a:tr>
              <a:tr h="797719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Чай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1 134 000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405 000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729 000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64,29%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</a:tr>
            </a:tbl>
          </a:graphicData>
        </a:graphic>
      </p:graphicFrame>
      <p:sp>
        <p:nvSpPr>
          <p:cNvPr id="5" name="Кофе даёт наибольшую валовую прибыль за весь период.">
            <a:extLst xmlns:a="http://schemas.openxmlformats.org/drawingml/2006/main">
              <a:ext uri="{FF2B5EF4-FFF2-40B4-BE49-F238E27FC236}">
                <a16:creationId xmlns:a16="http://schemas.microsoft.com/office/drawing/2014/main" id="{9D4C2037-337B-4C49-BC51-DA52BBC1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96100"/>
            <a:ext cx="1333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Кофе даёт наибольшую валовую прибыль за весь период.</a:t>
            </a:r>
          </a:p>
          <a:p xmlns:a="http://schemas.openxmlformats.org/drawingml/2006/main">
            <a:pPr algn="l">
              <a:defRPr sz="22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Сравнение периодов отдельно показывает, когда его маржа ухудшилась.</a:t>
            </a:r>
          </a:p>
        </p:txBody>
      </p:sp>
      <p:sp>
        <p:nvSpPr>
          <p:cNvPr id="6" name="Демо за 90 дней. Операционные расходы в таблицу прибыльности това">
            <a:extLst xmlns:a="http://schemas.openxmlformats.org/drawingml/2006/main">
              <a:ext uri="{FF2B5EF4-FFF2-40B4-BE49-F238E27FC236}">
                <a16:creationId xmlns:a16="http://schemas.microsoft.com/office/drawing/2014/main" id="{8C6301F2-3A50-497E-BF39-1BE7A077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1304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Демо за 90 дней. Операционные расходы в таблицу прибыльности товаров не входят.</a:t>
            </a:r>
          </a:p>
        </p:txBody>
      </p:sp>
    </p:spTree>
    <p:extLst>
      <p:ext uri="{BB962C8B-B14F-4D97-AF65-F5344CB8AC3E}">
        <p14:creationId xmlns:p14="http://schemas.microsoft.com/office/powerpoint/2010/main" val="366501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ять правил поиска финансовых проблем">
            <a:extLst xmlns:a="http://schemas.openxmlformats.org/drawingml/2006/main">
              <a:ext uri="{FF2B5EF4-FFF2-40B4-BE49-F238E27FC236}">
                <a16:creationId xmlns:a16="http://schemas.microsoft.com/office/drawing/2014/main" id="{0C20DC6E-741D-4957-A2A8-057C1B43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Пять правил поиска финансовых проблем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F049F074-FD43-467E-A31C-82431E32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37BAE-B35F-49E5-8082-18ED603B84DF}"/>
              </a:ext>
            </a:extLst>
          </p:cNvPr>
          <p:cNvGraphicFramePr/>
          <p:nvPr/>
        </p:nvGraphicFramePr>
        <p:xfrm>
          <a:off xmlns:a="http://schemas.openxmlformats.org/drawingml/2006/main" x="685800" y="1876425"/>
          <a:ext xmlns:a="http://schemas.openxmlformats.org/drawingml/2006/main" cx="13868400" cy="4762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457700"/>
                <a:gridCol w="9410700"/>
              </a:tblGrid>
              <a:tr h="793750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T w="6668">
                      <a:solidFill>
                        <a:srgbClr val="D9E5DE"/>
                      </a:solidFill>
                      <a:prstDash val="solid"/>
                    </a:lnT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103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Что проверяет сервис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T w="6668">
                      <a:solidFill>
                        <a:srgbClr val="D9E5DE"/>
                      </a:solidFill>
                      <a:prstDash val="solid"/>
                    </a:lnT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103D32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Рост расходов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Увеличение расходов категории на 25% и более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Падение маржи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Снижение маржи товара на 10 п.п. и более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Низкая маржа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Маржа товара 20% и ниже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Снижение выручки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Падение выручки бизнеса на 20% и более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</a:tr>
              <a:tr h="793750"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Возможный дубликат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32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Совпадение даты, категории, описания и суммы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</a:tr>
            </a:tbl>
          </a:graphicData>
        </a:graphic>
      </p:graphicFrame>
      <p:sp>
        <p:nvSpPr>
          <p:cNvPr id="4" name="В демо сработали 3 сигнала: упаковка, маржа кофе и возможный повт">
            <a:extLst xmlns:a="http://schemas.openxmlformats.org/drawingml/2006/main">
              <a:ext uri="{FF2B5EF4-FFF2-40B4-BE49-F238E27FC236}">
                <a16:creationId xmlns:a16="http://schemas.microsoft.com/office/drawing/2014/main" id="{654DEEB6-1A1D-48E1-8070-A8CEB732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58025"/>
            <a:ext cx="1333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В демо сработали 3 сигнала: упаковка, маржа кофе и возможный повтор расхода.</a:t>
            </a:r>
          </a:p>
        </p:txBody>
      </p:sp>
      <p:sp>
        <p:nvSpPr>
          <p:cNvPr id="5" name="Правила учитывают достаточность данных. Сигнал требует проверки ч">
            <a:extLst xmlns:a="http://schemas.openxmlformats.org/drawingml/2006/main">
              <a:ext uri="{FF2B5EF4-FFF2-40B4-BE49-F238E27FC236}">
                <a16:creationId xmlns:a16="http://schemas.microsoft.com/office/drawing/2014/main" id="{0A38AFC3-FD3F-4534-A05E-4A5CFAA38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1304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Правила учитывают достаточность данных. Сигнал требует проверки человеком.</a:t>
            </a:r>
          </a:p>
        </p:txBody>
      </p:sp>
    </p:spTree>
    <p:extLst>
      <p:ext uri="{BB962C8B-B14F-4D97-AF65-F5344CB8AC3E}">
        <p14:creationId xmlns:p14="http://schemas.microsoft.com/office/powerpoint/2010/main" val="149796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Сигнал с доказательствами и контролем проверки">
            <a:extLst xmlns:a="http://schemas.openxmlformats.org/drawingml/2006/main">
              <a:ext uri="{FF2B5EF4-FFF2-40B4-BE49-F238E27FC236}">
                <a16:creationId xmlns:a16="http://schemas.microsoft.com/office/drawing/2014/main" id="{FA8A0319-98DA-4F03-92AB-FB8442B5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Сигнал с доказательствами и контролем проверки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1C137148-1954-4993-8FBE-4BE6116F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+55%">
            <a:extLst xmlns:a="http://schemas.openxmlformats.org/drawingml/2006/main">
              <a:ext uri="{FF2B5EF4-FFF2-40B4-BE49-F238E27FC236}">
                <a16:creationId xmlns:a16="http://schemas.microsoft.com/office/drawing/2014/main" id="{7C1D518B-6852-4AF5-BFA1-D8F04CA4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6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6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6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6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6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6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6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6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6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0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+55%</a:t>
            </a:r>
          </a:p>
        </p:txBody>
      </p:sp>
      <p:sp>
        <p:nvSpPr>
          <p:cNvPr id="4" name="Расходы на упаковку">
            <a:extLst xmlns:a="http://schemas.openxmlformats.org/drawingml/2006/main">
              <a:ext uri="{FF2B5EF4-FFF2-40B4-BE49-F238E27FC236}">
                <a16:creationId xmlns:a16="http://schemas.microsoft.com/office/drawing/2014/main" id="{F2CEC1A1-A178-4A3A-BF3A-D4ABA195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Расходы на упаковку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95562F3-BE84-4819-858C-AE80F38365F0}"/>
              </a:ext>
            </a:extLst>
          </p:cNvPr>
          <p:cNvGraphicFramePr/>
          <p:nvPr/>
        </p:nvGraphicFramePr>
        <p:xfrm>
          <a:off xmlns:a="http://schemas.openxmlformats.org/drawingml/2006/main" x="590550" y="3524250"/>
          <a:ext xmlns:a="http://schemas.openxmlformats.org/drawingml/2006/main" cx="6667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8c6a88f47544d34"/>
          </a:graphicData>
        </a:graphic>
      </p:graphicFrame>
      <p:sp>
        <p:nvSpPr>
          <p:cNvPr id="6" name="Проверка команды">
            <a:extLst xmlns:a="http://schemas.openxmlformats.org/drawingml/2006/main">
              <a:ext uri="{FF2B5EF4-FFF2-40B4-BE49-F238E27FC236}">
                <a16:creationId xmlns:a16="http://schemas.microsoft.com/office/drawing/2014/main" id="{9915DE52-6D58-4E80-848A-30972333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Проверка команды</a:t>
            </a:r>
          </a:p>
        </p:txBody>
      </p:sp>
      <p:sp>
        <p:nvSpPr>
          <p:cNvPr id="7" name="Формула и исходные строки объясняют сигнал.">
            <a:extLst xmlns:a="http://schemas.openxmlformats.org/drawingml/2006/main">
              <a:ext uri="{FF2B5EF4-FFF2-40B4-BE49-F238E27FC236}">
                <a16:creationId xmlns:a16="http://schemas.microsoft.com/office/drawing/2014/main" id="{57020DBE-5586-4CCF-9BEF-DCF73678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63817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Формула и исходные строки объясняют сигнал.</a:t>
            </a:r>
          </a:p>
          <a:p xmlns:a="http://schemas.openxmlformats.org/drawingml/2006/main">
            <a: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Статус и заметка фиксируют результат проверки.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7B9F0-4FF9-43DB-AC9A-2E9834DDA6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8cff9317c4bab"/>
          <a:stretch xmlns:a="http://schemas.openxmlformats.org/drawingml/2006/main"/>
        </p:blipFill>
        <p:spPr>
          <a:xfrm xmlns:a="http://schemas.openxmlformats.org/drawingml/2006/main">
            <a:off x="8096250" y="3906762"/>
            <a:ext cx="6457950" cy="3006876"/>
          </a:xfrm>
          <a:prstGeom xmlns:a="http://schemas.openxmlformats.org/drawingml/2006/main" prst="rect">
            <a:avLst/>
          </a:prstGeom>
        </p:spPr>
      </p:pic>
      <p:sp>
        <p:nvSpPr>
          <p:cNvPr id="9" name="03.08–01.09.2026 и 02.09–01.10.2026">
            <a:extLst xmlns:a="http://schemas.openxmlformats.org/drawingml/2006/main">
              <a:ext uri="{FF2B5EF4-FFF2-40B4-BE49-F238E27FC236}">
                <a16:creationId xmlns:a16="http://schemas.microsoft.com/office/drawing/2014/main" id="{E4F16468-D1CB-44E2-8741-A3BFE68E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03.08–01.09.2026 и 02.09–01.10.2026</a:t>
            </a:r>
          </a:p>
        </p:txBody>
      </p:sp>
      <p:sp>
        <p:nvSpPr>
          <p:cNvPr id="10" name="Демо. Сценарная оценка 16 500 ₸ требует сверки объёма закупок и н">
            <a:extLst xmlns:a="http://schemas.openxmlformats.org/drawingml/2006/main">
              <a:ext uri="{FF2B5EF4-FFF2-40B4-BE49-F238E27FC236}">
                <a16:creationId xmlns:a16="http://schemas.microsoft.com/office/drawing/2014/main" id="{469AB451-6BFB-4A43-9C4B-BEABEF96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1304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Демо. Сценарная оценка 16 500 ₸ требует сверки объёма закупок и не гарантирует экономию.</a:t>
            </a:r>
          </a:p>
        </p:txBody>
      </p:sp>
    </p:spTree>
    <p:extLst>
      <p:ext uri="{BB962C8B-B14F-4D97-AF65-F5344CB8AC3E}">
        <p14:creationId xmlns:p14="http://schemas.microsoft.com/office/powerpoint/2010/main" val="2649782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Выручка стабильна, операционная прибыль снизилась">
            <a:extLst xmlns:a="http://schemas.openxmlformats.org/drawingml/2006/main">
              <a:ext uri="{FF2B5EF4-FFF2-40B4-BE49-F238E27FC236}">
                <a16:creationId xmlns:a16="http://schemas.microsoft.com/office/drawing/2014/main" id="{FFF44E26-F722-4215-B3CF-B1EC5577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Выручка стабильна, операционная прибыль снизилась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DAFFA655-7A8C-4065-89AE-46D55D1E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База: 03.08–01.09.2026     Текущий: 02.09–01.10.2026     По 30 дн">
            <a:extLst xmlns:a="http://schemas.openxmlformats.org/drawingml/2006/main">
              <a:ext uri="{FF2B5EF4-FFF2-40B4-BE49-F238E27FC236}">
                <a16:creationId xmlns:a16="http://schemas.microsoft.com/office/drawing/2014/main" id="{9D053046-D57F-4E31-929D-72D5A4ED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52575"/>
            <a:ext cx="1381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База: 03.08–01.09.2026     Текущий: 02.09–01.10.2026     По 30 дней</a:t>
            </a:r>
          </a:p>
        </p:txBody>
      </p:sp>
      <p:sp>
        <p:nvSpPr>
          <p:cNvPr id="4" name="тыс. ₸">
            <a:extLst xmlns:a="http://schemas.openxmlformats.org/drawingml/2006/main">
              <a:ext uri="{FF2B5EF4-FFF2-40B4-BE49-F238E27FC236}">
                <a16:creationId xmlns:a16="http://schemas.microsoft.com/office/drawing/2014/main" id="{5DA89E39-F3F1-4FE1-B178-51DE8EE4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тыс. ₸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48FF180-C2E3-4A9C-A04C-BAF56F5B55DE}"/>
              </a:ext>
            </a:extLst>
          </p:cNvPr>
          <p:cNvGraphicFramePr/>
          <p:nvPr/>
        </p:nvGraphicFramePr>
        <p:xfrm>
          <a:off xmlns:a="http://schemas.openxmlformats.org/drawingml/2006/main" x="552450" y="2876550"/>
          <a:ext xmlns:a="http://schemas.openxmlformats.org/drawingml/2006/main" cx="9525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22360240024511"/>
          </a:graphicData>
        </a:graphic>
      </p:graphicFrame>
      <p:sp>
        <p:nvSpPr>
          <p:cNvPr id="6" name="0%">
            <a:extLst xmlns:a="http://schemas.openxmlformats.org/drawingml/2006/main">
              <a:ext uri="{FF2B5EF4-FFF2-40B4-BE49-F238E27FC236}">
                <a16:creationId xmlns:a16="http://schemas.microsoft.com/office/drawing/2014/main" id="{3EFAC91D-D10F-414E-AB94-B512D5FA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428875"/>
            <a:ext cx="3524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54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54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54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54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54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54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54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54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54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40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7" name="Изменение выручки">
            <a:extLst xmlns:a="http://schemas.openxmlformats.org/drawingml/2006/main">
              <a:ext uri="{FF2B5EF4-FFF2-40B4-BE49-F238E27FC236}">
                <a16:creationId xmlns:a16="http://schemas.microsoft.com/office/drawing/2014/main" id="{B4E4165F-6874-4213-8D07-5C0D5BC3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3333750"/>
            <a:ext cx="352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Изменение выручки</a:t>
            </a:r>
          </a:p>
        </p:txBody>
      </p:sp>
      <p:sp>
        <p:nvSpPr>
          <p:cNvPr id="8" name="−40,90%">
            <a:extLst xmlns:a="http://schemas.openxmlformats.org/drawingml/2006/main">
              <a:ext uri="{FF2B5EF4-FFF2-40B4-BE49-F238E27FC236}">
                <a16:creationId xmlns:a16="http://schemas.microsoft.com/office/drawing/2014/main" id="{75D6B6FF-9671-4EB0-BF2D-47B15736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743450"/>
            <a:ext cx="3619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C17145"/>
                </a:solidFill>
                <a:latin typeface="Arial"/>
                <a:ea typeface="Arial"/>
                <a:cs typeface="Arial"/>
              </a:defRPr>
            </a:defPPr>
            <a:lvl1pPr algn="l">
              <a:defRPr sz="5100" b="1">
                <a:solidFill>
                  <a:srgbClr val="C17145"/>
                </a:solidFill>
                <a:latin typeface="Arial"/>
                <a:ea typeface="Arial"/>
                <a:cs typeface="Arial"/>
              </a:defRPr>
            </a:lvl1pPr>
            <a:lvl2pPr algn="l">
              <a:defRPr sz="5100" b="1">
                <a:solidFill>
                  <a:srgbClr val="C17145"/>
                </a:solidFill>
                <a:latin typeface="Arial"/>
                <a:ea typeface="Arial"/>
                <a:cs typeface="Arial"/>
              </a:defRPr>
            </a:lvl2pPr>
            <a:lvl3pPr algn="l">
              <a:defRPr sz="5100" b="1">
                <a:solidFill>
                  <a:srgbClr val="C17145"/>
                </a:solidFill>
                <a:latin typeface="Arial"/>
                <a:ea typeface="Arial"/>
                <a:cs typeface="Arial"/>
              </a:defRPr>
            </a:lvl3pPr>
            <a:lvl4pPr algn="l">
              <a:defRPr sz="5100" b="1">
                <a:solidFill>
                  <a:srgbClr val="C17145"/>
                </a:solidFill>
                <a:latin typeface="Arial"/>
                <a:ea typeface="Arial"/>
                <a:cs typeface="Arial"/>
              </a:defRPr>
            </a:lvl4pPr>
            <a:lvl5pPr algn="l">
              <a:defRPr sz="5100" b="1">
                <a:solidFill>
                  <a:srgbClr val="C17145"/>
                </a:solidFill>
                <a:latin typeface="Arial"/>
                <a:ea typeface="Arial"/>
                <a:cs typeface="Arial"/>
              </a:defRPr>
            </a:lvl5pPr>
            <a:lvl6pPr algn="l">
              <a:defRPr sz="5100" b="1">
                <a:solidFill>
                  <a:srgbClr val="C17145"/>
                </a:solidFill>
                <a:latin typeface="Arial"/>
                <a:ea typeface="Arial"/>
                <a:cs typeface="Arial"/>
              </a:defRPr>
            </a:lvl6pPr>
            <a:lvl7pPr algn="l">
              <a:defRPr sz="5100" b="1">
                <a:solidFill>
                  <a:srgbClr val="C17145"/>
                </a:solidFill>
                <a:latin typeface="Arial"/>
                <a:ea typeface="Arial"/>
                <a:cs typeface="Arial"/>
              </a:defRPr>
            </a:lvl7pPr>
            <a:lvl8pPr algn="l">
              <a:defRPr sz="5100" b="1">
                <a:solidFill>
                  <a:srgbClr val="C17145"/>
                </a:solidFill>
                <a:latin typeface="Arial"/>
                <a:ea typeface="Arial"/>
                <a:cs typeface="Arial"/>
              </a:defRPr>
            </a:lvl8pPr>
            <a:lvl9pPr algn="l">
              <a:defRPr sz="5100" b="1">
                <a:solidFill>
                  <a:srgbClr val="C171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100" b="1">
                <a:solidFill>
                  <a:srgbClr val="C1714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C17145"/>
                </a:solidFill>
                <a:latin typeface="Arial"/>
                <a:ea typeface="Arial"/>
                <a:cs typeface="Arial"/>
              </a:rPr>
              <a:t>−40,90%</a:t>
            </a:r>
          </a:p>
        </p:txBody>
      </p:sp>
      <p:sp>
        <p:nvSpPr>
          <p:cNvPr id="9" name="Изменение">
            <a:extLst xmlns:a="http://schemas.openxmlformats.org/drawingml/2006/main">
              <a:ext uri="{FF2B5EF4-FFF2-40B4-BE49-F238E27FC236}">
                <a16:creationId xmlns:a16="http://schemas.microsoft.com/office/drawing/2014/main" id="{9EA7743E-8AD1-4ED0-8080-94133E24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572452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Изменение</a:t>
            </a:r>
          </a:p>
          <a:p xmlns:a="http://schemas.openxmlformats.org/drawingml/2006/main">
            <a:pPr algn="l">
              <a:defRPr sz="2175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операционной прибыли</a:t>
            </a:r>
          </a:p>
        </p:txBody>
      </p:sp>
      <p:sp>
        <p:nvSpPr>
          <p:cNvPr id="10" name="Демо. Доступны сравнение сумм и показателей за день, детализация ">
            <a:extLst xmlns:a="http://schemas.openxmlformats.org/drawingml/2006/main">
              <a:ext uri="{FF2B5EF4-FFF2-40B4-BE49-F238E27FC236}">
                <a16:creationId xmlns:a16="http://schemas.microsoft.com/office/drawing/2014/main" id="{D5FCE6EE-7889-4416-8945-E83FF4C6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1304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Демо. Доступны сравнение сумм и показателей за день, детализация по товарам и категориям расходов.</a:t>
            </a:r>
          </a:p>
        </p:txBody>
      </p:sp>
    </p:spTree>
    <p:extLst>
      <p:ext uri="{BB962C8B-B14F-4D97-AF65-F5344CB8AC3E}">
        <p14:creationId xmlns:p14="http://schemas.microsoft.com/office/powerpoint/2010/main" val="15852858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Прогноз и сценарии на 1–90 дней">
            <a:extLst xmlns:a="http://schemas.openxmlformats.org/drawingml/2006/main">
              <a:ext uri="{FF2B5EF4-FFF2-40B4-BE49-F238E27FC236}">
                <a16:creationId xmlns:a16="http://schemas.microsoft.com/office/drawing/2014/main" id="{BF7BE897-1B5D-4CA8-9319-8C5EA4E3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Прогноз и сценарии на 1–90 дней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E92EE4D8-FCD0-43AE-96E5-D28728AF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Операционная прибыль">
            <a:extLst xmlns:a="http://schemas.openxmlformats.org/drawingml/2006/main">
              <a:ext uri="{FF2B5EF4-FFF2-40B4-BE49-F238E27FC236}">
                <a16:creationId xmlns:a16="http://schemas.microsoft.com/office/drawing/2014/main" id="{1C725BFE-032E-4266-B882-E4173079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666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Операционная прибыль</a:t>
            </a:r>
          </a:p>
          <a:p xmlns:a="http://schemas.openxmlformats.org/drawingml/2006/main">
            <a:pPr algn="l">
              <a:defRPr sz="25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на 30 дней, ₸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92C971CC-2241-46F3-B4D5-4FC76D877EE3}"/>
              </a:ext>
            </a:extLst>
          </p:cNvPr>
          <p:cNvGraphicFramePr/>
          <p:nvPr/>
        </p:nvGraphicFramePr>
        <p:xfrm>
          <a:off xmlns:a="http://schemas.openxmlformats.org/drawingml/2006/main" x="581025" y="2914650"/>
          <a:ext xmlns:a="http://schemas.openxmlformats.org/drawingml/2006/main" cx="6667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e63d5fbcaa549da"/>
          </a:graphicData>
        </a:graphic>
      </p:graphicFrame>
      <p:sp>
        <p:nvSpPr>
          <p:cNvPr id="5" name="Продажи +10%, расходы −5%">
            <a:extLst xmlns:a="http://schemas.openxmlformats.org/drawingml/2006/main">
              <a:ext uri="{FF2B5EF4-FFF2-40B4-BE49-F238E27FC236}">
                <a16:creationId xmlns:a16="http://schemas.microsoft.com/office/drawing/2014/main" id="{09370F5E-63B2-4A19-A680-F1392BD2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Продажи +10%, расходы −5%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43BCD-7FED-45D0-8D08-C5E6057A03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ed6c362a44222"/>
          <a:stretch xmlns:a="http://schemas.openxmlformats.org/drawingml/2006/main"/>
        </p:blipFill>
        <p:spPr>
          <a:xfrm xmlns:a="http://schemas.openxmlformats.org/drawingml/2006/main">
            <a:off x="8096250" y="2692969"/>
            <a:ext cx="6457950" cy="4081912"/>
          </a:xfrm>
          <a:prstGeom xmlns:a="http://schemas.openxmlformats.org/drawingml/2006/main" prst="rect">
            <a:avLst/>
          </a:prstGeom>
        </p:spPr>
      </p:pic>
      <p:sp>
        <p:nvSpPr>
          <p:cNvPr id="7" name="Демо-прогноз: 02.10–31.10.2026">
            <a:extLst xmlns:a="http://schemas.openxmlformats.org/drawingml/2006/main">
              <a:ext uri="{FF2B5EF4-FFF2-40B4-BE49-F238E27FC236}">
                <a16:creationId xmlns:a16="http://schemas.microsoft.com/office/drawing/2014/main" id="{9BF8208D-6C17-46CF-BF13-6A1B4F6A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627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Демо-прогноз: 02.10–31.10.2026</a:t>
            </a:r>
          </a:p>
        </p:txBody>
      </p:sp>
      <p:sp>
        <p:nvSpPr>
          <p:cNvPr id="8" name="Средние по дням недели за 28–30 дней. Проверка на 7 днях истории.">
            <a:extLst xmlns:a="http://schemas.openxmlformats.org/drawingml/2006/main">
              <a:ext uri="{FF2B5EF4-FFF2-40B4-BE49-F238E27FC236}">
                <a16:creationId xmlns:a16="http://schemas.microsoft.com/office/drawing/2014/main" id="{50115EBC-84CD-40FE-B165-A317579A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0"/>
            <a:ext cx="1314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Средние по дням недели за 28–30 дней. Проверка на 7 днях истории.</a:t>
            </a:r>
          </a:p>
          <a:p xmlns:a="http://schemas.openxmlformats.org/drawingml/2006/main">
            <a:pPr algn="l">
              <a:defRPr sz="1725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Тренд и праздники модель не учитывает. Расчётный сценарий не гарантирует будущий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929735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Аккаунты и роли внутри каждого бизнеса">
            <a:extLst xmlns:a="http://schemas.openxmlformats.org/drawingml/2006/main">
              <a:ext uri="{FF2B5EF4-FFF2-40B4-BE49-F238E27FC236}">
                <a16:creationId xmlns:a16="http://schemas.microsoft.com/office/drawing/2014/main" id="{16DE9374-DEAC-4E5F-93EE-70D5CA9B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Аккаунты и роли внутри каждого бизнеса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E561BEAF-F253-4BF3-8A0A-BB10A99A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Владелец выдаёт доступ зарегистрированным участникам.">
            <a:extLst xmlns:a="http://schemas.openxmlformats.org/drawingml/2006/main">
              <a:ext uri="{FF2B5EF4-FFF2-40B4-BE49-F238E27FC236}">
                <a16:creationId xmlns:a16="http://schemas.microsoft.com/office/drawing/2014/main" id="{0DE60A75-87CF-4F40-8CAE-E97F9FE6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1381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Владелец выдаёт доступ зарегистрированным участникам.</a:t>
            </a:r>
          </a:p>
          <a:p xmlns:a="http://schemas.openxmlformats.org/drawingml/2006/main">
            <a:pPr algn="l">
              <a:defRPr sz="270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Один человек может иметь разные роли в разных бизнесах.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3DEB4-6100-4031-A091-519CA1658007}"/>
              </a:ext>
            </a:extLst>
          </p:cNvPr>
          <p:cNvGraphicFramePr/>
          <p:nvPr/>
        </p:nvGraphicFramePr>
        <p:xfrm>
          <a:off xmlns:a="http://schemas.openxmlformats.org/drawingml/2006/main" x="685800" y="3257550"/>
          <a:ext xmlns:a="http://schemas.openxmlformats.org/drawingml/2006/main" cx="138684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267450"/>
                <a:gridCol w="2533650"/>
                <a:gridCol w="2533650"/>
                <a:gridCol w="2533650"/>
              </a:tblGrid>
              <a:tr h="73533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Возможность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T w="6668">
                      <a:solidFill>
                        <a:srgbClr val="D9E5DE"/>
                      </a:solidFill>
                      <a:prstDash val="solid"/>
                    </a:lnT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103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Владелец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T w="6668">
                      <a:solidFill>
                        <a:srgbClr val="D9E5DE"/>
                      </a:solidFill>
                      <a:prstDash val="solid"/>
                    </a:lnT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103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Аналитик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T w="6668">
                      <a:solidFill>
                        <a:srgbClr val="D9E5DE"/>
                      </a:solidFill>
                      <a:prstDash val="solid"/>
                    </a:lnT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103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Наблюдатель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T w="6668">
                      <a:solidFill>
                        <a:srgbClr val="D9E5DE"/>
                      </a:solidFill>
                      <a:prstDash val="solid"/>
                    </a:lnT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103D32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Отчёты, сравнение, прогноз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Советник и PDF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Импорт, анализ, статусы и заметки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Нет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</a:tr>
              <a:tr h="735330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Участники и роли</a:t>
                      </a:r>
                    </a:p>
                  </a:txBody>
                  <a:tcPr marL="171450" marR="152400" marT="171450" marB="114300" anchor="ctr">
                    <a:lnL w="6668">
                      <a:solidFill>
                        <a:srgbClr val="D9E5DE"/>
                      </a:solidFill>
                      <a:prstDash val="solid"/>
                    </a:lnL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Да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Нет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B3530"/>
                          </a:solidFill>
                          <a:latin typeface="Arial"/>
                          <a:ea typeface="Arial"/>
                          <a:cs typeface="Arial"/>
                        </a:rPr>
                        <a:t>Нет</a:t>
                      </a:r>
                    </a:p>
                  </a:txBody>
                  <a:tcPr marL="171450" marR="152400" marT="171450" marB="114300" anchor="ctr">
                    <a:lnR w="6668">
                      <a:solidFill>
                        <a:srgbClr val="D9E5DE"/>
                      </a:solidFill>
                      <a:prstDash val="solid"/>
                    </a:lnR>
                    <a:lnB w="6668">
                      <a:solidFill>
                        <a:srgbClr val="D9E5DE"/>
                      </a:solidFill>
                      <a:prstDash val="solid"/>
                    </a:lnB>
                    <a:solidFill>
                      <a:srgbClr val="F3F7F4"/>
                    </a:solidFill>
                  </a:tcPr>
                </a:tc>
              </a:tr>
            </a:tbl>
          </a:graphicData>
        </a:graphic>
      </p:graphicFrame>
      <p:sp>
        <p:nvSpPr>
          <p:cNvPr id="5" name="Проверка прав на сервере изолирует данные разных бизнесов.">
            <a:extLst xmlns:a="http://schemas.openxmlformats.org/drawingml/2006/main">
              <a:ext uri="{FF2B5EF4-FFF2-40B4-BE49-F238E27FC236}">
                <a16:creationId xmlns:a16="http://schemas.microsoft.com/office/drawing/2014/main" id="{53665634-5912-4A2C-9C63-69F687E9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86625"/>
            <a:ext cx="1333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Проверка прав на сервере изолирует данные разных бизнесов.</a:t>
            </a:r>
          </a:p>
        </p:txBody>
      </p:sp>
      <p:sp>
        <p:nvSpPr>
          <p:cNvPr id="6" name="Доступ выдаётся существующему аккаунту. Последнего владельца нель">
            <a:extLst xmlns:a="http://schemas.openxmlformats.org/drawingml/2006/main">
              <a:ext uri="{FF2B5EF4-FFF2-40B4-BE49-F238E27FC236}">
                <a16:creationId xmlns:a16="http://schemas.microsoft.com/office/drawing/2014/main" id="{DF2A616A-9B33-40EB-BD1C-7C333E5A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1304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Доступ выдаётся существующему аккаунту. Последнего владельца нельзя удалить или понизить.</a:t>
            </a:r>
          </a:p>
        </p:txBody>
      </p:sp>
    </p:spTree>
    <p:extLst>
      <p:ext uri="{BB962C8B-B14F-4D97-AF65-F5344CB8AC3E}">
        <p14:creationId xmlns:p14="http://schemas.microsoft.com/office/powerpoint/2010/main" val="6969038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Русский и казахский во всём рабочем сценарии">
            <a:extLst xmlns:a="http://schemas.openxmlformats.org/drawingml/2006/main">
              <a:ext uri="{FF2B5EF4-FFF2-40B4-BE49-F238E27FC236}">
                <a16:creationId xmlns:a16="http://schemas.microsoft.com/office/drawing/2014/main" id="{F92DAFD3-3196-4B45-BC0E-39244A6E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Русский и казахский во всём рабочем сценарии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D043359E-80CB-4DEA-8B26-82F7C1CA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RU / ҚАЗ">
            <a:extLst xmlns:a="http://schemas.openxmlformats.org/drawingml/2006/main">
              <a:ext uri="{FF2B5EF4-FFF2-40B4-BE49-F238E27FC236}">
                <a16:creationId xmlns:a16="http://schemas.microsoft.com/office/drawing/2014/main" id="{5F79EA3F-DF6C-4530-9F47-8CB88A31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49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49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49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49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49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49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49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49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49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RU / ҚАЗ</a:t>
            </a:r>
          </a:p>
        </p:txBody>
      </p:sp>
      <p:sp>
        <p:nvSpPr>
          <p:cNvPr id="4" name="Меню и формы">
            <a:extLst xmlns:a="http://schemas.openxmlformats.org/drawingml/2006/main">
              <a:ext uri="{FF2B5EF4-FFF2-40B4-BE49-F238E27FC236}">
                <a16:creationId xmlns:a16="http://schemas.microsoft.com/office/drawing/2014/main" id="{7AC17EF0-8B5E-4BC8-8965-7B132ED6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4286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Меню и формы</a:t>
            </a:r>
          </a:p>
          <a:p xmlns:a="http://schemas.openxmlformats.org/drawingml/2006/main">
            <a: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Ошибки импорта</a:t>
            </a:r>
          </a:p>
          <a:p xmlns:a="http://schemas.openxmlformats.org/drawingml/2006/main">
            <a: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Даты и графики</a:t>
            </a:r>
          </a:p>
          <a:p xmlns:a="http://schemas.openxmlformats.org/drawingml/2006/main">
            <a: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Сигналы и советник</a:t>
            </a:r>
          </a:p>
          <a:p xmlns:a="http://schemas.openxmlformats.org/drawingml/2006/main">
            <a:pPr algn="l">
              <a:defRPr sz="27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Финансовый PDF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B5937-F54E-48FD-A295-FAB48E00EE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be4067d0e42b9"/>
          <a:stretch xmlns:a="http://schemas.openxmlformats.org/drawingml/2006/main"/>
        </p:blipFill>
        <p:spPr>
          <a:xfrm xmlns:a="http://schemas.openxmlformats.org/drawingml/2006/main">
            <a:off x="5143500" y="1914128"/>
            <a:ext cx="9410700" cy="5353844"/>
          </a:xfrm>
          <a:prstGeom xmlns:a="http://schemas.openxmlformats.org/drawingml/2006/main" prst="rect">
            <a:avLst/>
          </a:prstGeom>
        </p:spPr>
      </p:pic>
      <p:sp>
        <p:nvSpPr>
          <p:cNvPr id="6" name="Выбор языка сохраняется. Названия товаров и бизнесов из исходных ">
            <a:extLst xmlns:a="http://schemas.openxmlformats.org/drawingml/2006/main">
              <a:ext uri="{FF2B5EF4-FFF2-40B4-BE49-F238E27FC236}">
                <a16:creationId xmlns:a16="http://schemas.microsoft.com/office/drawing/2014/main" id="{38114404-0920-4D68-A8A0-1A0FCA59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1304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Выбор языка сохраняется. Названия товаров и бизнесов из исходных данных остаются без перевода.</a:t>
            </a:r>
          </a:p>
        </p:txBody>
      </p:sp>
    </p:spTree>
    <p:extLst>
      <p:ext uri="{BB962C8B-B14F-4D97-AF65-F5344CB8AC3E}">
        <p14:creationId xmlns:p14="http://schemas.microsoft.com/office/powerpoint/2010/main" val="3155146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оветник объясняет рассчитанные показатели">
            <a:extLst xmlns:a="http://schemas.openxmlformats.org/drawingml/2006/main">
              <a:ext uri="{FF2B5EF4-FFF2-40B4-BE49-F238E27FC236}">
                <a16:creationId xmlns:a16="http://schemas.microsoft.com/office/drawing/2014/main" id="{41F53E29-FB6E-40A4-A852-125F85F6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Советник объясняет рассчитанные показатели</a:t>
            </a:r>
          </a:p>
        </p:txBody>
      </p:sp>
      <p:sp>
        <p:nvSpPr>
          <p:cNvPr id="2" name="12">
            <a:extLst xmlns:a="http://schemas.openxmlformats.org/drawingml/2006/main">
              <a:ext uri="{FF2B5EF4-FFF2-40B4-BE49-F238E27FC236}">
                <a16:creationId xmlns:a16="http://schemas.microsoft.com/office/drawing/2014/main" id="{EDEB57A9-917B-4816-8CDA-EA696DE6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Локальный">
            <a:extLst xmlns:a="http://schemas.openxmlformats.org/drawingml/2006/main">
              <a:ext uri="{FF2B5EF4-FFF2-40B4-BE49-F238E27FC236}">
                <a16:creationId xmlns:a16="http://schemas.microsoft.com/office/drawing/2014/main" id="{59567E30-DB12-4E47-B55E-DB181CB7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Локальный</a:t>
            </a:r>
          </a:p>
          <a:p xmlns:a="http://schemas.openxmlformats.org/drawingml/2006/main">
            <a:pPr algn="l">
              <a:defRPr sz="3225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шаблонный режим</a:t>
            </a:r>
          </a:p>
        </p:txBody>
      </p:sp>
      <p:sp>
        <p:nvSpPr>
          <p:cNvPr id="4" name="Числа и сигналы">
            <a:extLst xmlns:a="http://schemas.openxmlformats.org/drawingml/2006/main">
              <a:ext uri="{FF2B5EF4-FFF2-40B4-BE49-F238E27FC236}">
                <a16:creationId xmlns:a16="http://schemas.microsoft.com/office/drawing/2014/main" id="{9F0E4B92-3A06-4423-A05D-8786AAD2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Числа и сигналы</a:t>
            </a:r>
          </a:p>
          <a:p xmlns:a="http://schemas.openxmlformats.org/drawingml/2006/main">
            <a: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из выбранного бизнеса</a:t>
            </a:r>
          </a:p>
          <a:p xmlns:a="http://schemas.openxmlformats.org/drawingml/2006/main">
            <a:pPr algn="l">
              <a:defRPr sz="24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и периода</a:t>
            </a:r>
          </a:p>
        </p:txBody>
      </p:sp>
      <p:sp>
        <p:nvSpPr>
          <p:cNvPr id="5" name="API-токены">
            <a:extLst xmlns:a="http://schemas.openxmlformats.org/drawingml/2006/main">
              <a:ext uri="{FF2B5EF4-FFF2-40B4-BE49-F238E27FC236}">
                <a16:creationId xmlns:a16="http://schemas.microsoft.com/office/drawing/2014/main" id="{85CFBEEC-6370-4DE5-A739-8677AD30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API-токены</a:t>
            </a:r>
          </a:p>
          <a:p xmlns:a="http://schemas.openxmlformats.org/drawingml/2006/main">
            <a:pPr algn="l">
              <a:defRPr sz="28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не расходуются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367AB-1D3E-42B6-8FE9-8C3323ED68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0fd18abeda4da4"/>
          <a:stretch xmlns:a="http://schemas.openxmlformats.org/drawingml/2006/main"/>
        </p:blipFill>
        <p:spPr>
          <a:xfrm xmlns:a="http://schemas.openxmlformats.org/drawingml/2006/main">
            <a:off x="5625056" y="1828800"/>
            <a:ext cx="8752389" cy="5915025"/>
          </a:xfrm>
          <a:prstGeom xmlns:a="http://schemas.openxmlformats.org/drawingml/2006/main" prst="rect">
            <a:avLst/>
          </a:prstGeom>
        </p:spPr>
      </p:pic>
      <p:sp>
        <p:nvSpPr>
          <p:cNvPr id="7" name="Gemini и OpenAI доступны как отдельное подключение в режиме разра">
            <a:extLst xmlns:a="http://schemas.openxmlformats.org/drawingml/2006/main">
              <a:ext uri="{FF2B5EF4-FFF2-40B4-BE49-F238E27FC236}">
                <a16:creationId xmlns:a16="http://schemas.microsoft.com/office/drawing/2014/main" id="{1691B260-8481-48EB-8133-9714A888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1304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Gemini и OpenAI доступны как отдельное подключение в режиме разработки с разрешением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10457006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DF для обсуждения результатов">
            <a:extLst xmlns:a="http://schemas.openxmlformats.org/drawingml/2006/main">
              <a:ext uri="{FF2B5EF4-FFF2-40B4-BE49-F238E27FC236}">
                <a16:creationId xmlns:a16="http://schemas.microsoft.com/office/drawing/2014/main" id="{7DC68025-16EB-4E88-A7F2-DEA91C49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PDF для обсуждения результатов</a:t>
            </a:r>
          </a:p>
        </p:txBody>
      </p:sp>
      <p:sp>
        <p:nvSpPr>
          <p:cNvPr id="2" name="13">
            <a:extLst xmlns:a="http://schemas.openxmlformats.org/drawingml/2006/main">
              <a:ext uri="{FF2B5EF4-FFF2-40B4-BE49-F238E27FC236}">
                <a16:creationId xmlns:a16="http://schemas.microsoft.com/office/drawing/2014/main" id="{66AD1993-79B1-421C-A9BD-C40ACD9F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Отчёт за выбранный">
            <a:extLst xmlns:a="http://schemas.openxmlformats.org/drawingml/2006/main">
              <a:ext uri="{FF2B5EF4-FFF2-40B4-BE49-F238E27FC236}">
                <a16:creationId xmlns:a16="http://schemas.microsoft.com/office/drawing/2014/main" id="{DF60AA11-92D1-44F8-BE5A-8E08735C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0225"/>
            <a:ext cx="8191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Отчёт за выбранный</a:t>
            </a:r>
          </a:p>
          <a:p xmlns:a="http://schemas.openxmlformats.org/drawingml/2006/main">
            <a:pPr algn="l">
              <a:defRPr sz="37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бизнес и период</a:t>
            </a:r>
          </a:p>
        </p:txBody>
      </p:sp>
      <p:sp>
        <p:nvSpPr>
          <p:cNvPr id="4" name="Финансовые показатели и расходы">
            <a:extLst xmlns:a="http://schemas.openxmlformats.org/drawingml/2006/main">
              <a:ext uri="{FF2B5EF4-FFF2-40B4-BE49-F238E27FC236}">
                <a16:creationId xmlns:a16="http://schemas.microsoft.com/office/drawing/2014/main" id="{5DD0294B-4F20-46D5-8892-B002A456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00475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Финансовые показатели и расходы</a:t>
            </a:r>
          </a:p>
          <a:p xmlns:a="http://schemas.openxmlformats.org/drawingml/2006/main">
            <a: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Прибыльность товаров</a:t>
            </a:r>
          </a:p>
          <a:p xmlns:a="http://schemas.openxmlformats.org/drawingml/2006/main">
            <a: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Сигналы с расчётами и источниками</a:t>
            </a:r>
          </a:p>
          <a:p xmlns:a="http://schemas.openxmlformats.org/drawingml/2006/main">
            <a:pPr algn="l">
              <a:defRPr sz="255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Рекомендации для проверки</a:t>
            </a:r>
          </a:p>
        </p:txBody>
      </p:sp>
      <p:sp>
        <p:nvSpPr>
          <p:cNvPr id="5" name="Русский или қазақша">
            <a:extLst xmlns:a="http://schemas.openxmlformats.org/drawingml/2006/main">
              <a:ext uri="{FF2B5EF4-FFF2-40B4-BE49-F238E27FC236}">
                <a16:creationId xmlns:a16="http://schemas.microsoft.com/office/drawing/2014/main" id="{7262E70C-FB9F-4D35-944C-79ACB296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7056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Русский или қазақша</a:t>
            </a:r>
          </a:p>
          <a:p xmlns:a="http://schemas.openxmlformats.org/drawingml/2006/main">
            <a:pPr algn="l">
              <a:defRPr sz="24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Формирование без внешнего API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6035C-5D75-43EC-9A9C-5C3A18AFFE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aa2090cdd948c9"/>
          <a:stretch xmlns:a="http://schemas.openxmlformats.org/drawingml/2006/main"/>
        </p:blipFill>
        <p:spPr>
          <a:xfrm xmlns:a="http://schemas.openxmlformats.org/drawingml/2006/main">
            <a:off x="9510594" y="1485900"/>
            <a:ext cx="4486513" cy="6343650"/>
          </a:xfrm>
          <a:prstGeom xmlns:a="http://schemas.openxmlformats.org/drawingml/2006/main" prst="rect">
            <a:avLst/>
          </a:prstGeom>
        </p:spPr>
      </p:pic>
      <p:sp>
        <p:nvSpPr>
          <p:cNvPr id="7" name="Пример отчёта на синтетических данных. Шрифт поддерживает казахск">
            <a:extLst xmlns:a="http://schemas.openxmlformats.org/drawingml/2006/main">
              <a:ext uri="{FF2B5EF4-FFF2-40B4-BE49-F238E27FC236}">
                <a16:creationId xmlns:a16="http://schemas.microsoft.com/office/drawing/2014/main" id="{857D58C3-BAD3-4994-B625-0341C79C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1304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Пример отчёта на синтетических данных. Шрифт поддерживает казахские буквы.</a:t>
            </a:r>
          </a:p>
        </p:txBody>
      </p:sp>
    </p:spTree>
    <p:extLst>
      <p:ext uri="{BB962C8B-B14F-4D97-AF65-F5344CB8AC3E}">
        <p14:creationId xmlns:p14="http://schemas.microsoft.com/office/powerpoint/2010/main" val="3079394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Локальный запуск без Docker и облачных сервисов">
            <a:extLst xmlns:a="http://schemas.openxmlformats.org/drawingml/2006/main">
              <a:ext uri="{FF2B5EF4-FFF2-40B4-BE49-F238E27FC236}">
                <a16:creationId xmlns:a16="http://schemas.microsoft.com/office/drawing/2014/main" id="{08EFE018-0F31-402A-A9C8-1B42A2EB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Локальный запуск без Docker и облачных сервисов</a:t>
            </a:r>
          </a:p>
        </p:txBody>
      </p:sp>
      <p:sp>
        <p:nvSpPr>
          <p:cNvPr id="2" name="14">
            <a:extLst xmlns:a="http://schemas.openxmlformats.org/drawingml/2006/main">
              <a:ext uri="{FF2B5EF4-FFF2-40B4-BE49-F238E27FC236}">
                <a16:creationId xmlns:a16="http://schemas.microsoft.com/office/drawing/2014/main" id="{FC1964BE-3BC9-4AA1-B23A-C033FDE8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.\start-local.ps1">
            <a:extLst xmlns:a="http://schemas.openxmlformats.org/drawingml/2006/main">
              <a:ext uri="{FF2B5EF4-FFF2-40B4-BE49-F238E27FC236}">
                <a16:creationId xmlns:a16="http://schemas.microsoft.com/office/drawing/2014/main" id="{85929625-9187-4F5A-97C5-C18D81E0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362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defPPr>
            <a:lvl1pPr algn="l">
              <a:defRPr sz="5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1pPr>
            <a:lvl2pPr algn="l">
              <a:defRPr sz="5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2pPr>
            <a:lvl3pPr algn="l">
              <a:defRPr sz="5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3pPr>
            <a:lvl4pPr algn="l">
              <a:defRPr sz="5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4pPr>
            <a:lvl5pPr algn="l">
              <a:defRPr sz="5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5pPr>
            <a:lvl6pPr algn="l">
              <a:defRPr sz="5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6pPr>
            <a:lvl7pPr algn="l">
              <a:defRPr sz="5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7pPr>
            <a:lvl8pPr algn="l">
              <a:defRPr sz="5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8pPr>
            <a:lvl9pPr algn="l">
              <a:defRPr sz="5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008E7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8E7F"/>
                </a:solidFill>
                <a:latin typeface="Arial"/>
                <a:ea typeface="Arial"/>
                <a:cs typeface="Arial"/>
              </a:rPr>
              <a:t>.\start-local.ps1</a:t>
            </a:r>
          </a:p>
        </p:txBody>
      </p:sp>
      <p:sp>
        <p:nvSpPr>
          <p:cNvPr id="4" name="http://127.0.0.1:5173">
            <a:extLst xmlns:a="http://schemas.openxmlformats.org/drawingml/2006/main">
              <a:ext uri="{FF2B5EF4-FFF2-40B4-BE49-F238E27FC236}">
                <a16:creationId xmlns:a16="http://schemas.microsoft.com/office/drawing/2014/main" id="{7A7E4C34-D5D7-42DF-B76A-219BB443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285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B3530"/>
                </a:solidFill>
                <a:latin typeface="Arial"/>
                <a:ea typeface="Arial"/>
                <a:cs typeface="Arial"/>
              </a:rPr>
              <a:t>http://127.0.0.1:5173</a:t>
            </a:r>
          </a:p>
        </p:txBody>
      </p:sp>
      <p:sp>
        <p:nvSpPr>
          <p:cNvPr id="5" name="Один процесс приложения">
            <a:extLst xmlns:a="http://schemas.openxmlformats.org/drawingml/2006/main">
              <a:ext uri="{FF2B5EF4-FFF2-40B4-BE49-F238E27FC236}">
                <a16:creationId xmlns:a16="http://schemas.microsoft.com/office/drawing/2014/main" id="{D92A2A08-501D-4EBB-80E1-DEE8A8F1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685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Один процесс приложения</a:t>
            </a:r>
          </a:p>
        </p:txBody>
      </p:sp>
      <p:sp>
        <p:nvSpPr>
          <p:cNvPr id="6" name="FastAPI обслуживает API">
            <a:extLst xmlns:a="http://schemas.openxmlformats.org/drawingml/2006/main">
              <a:ext uri="{FF2B5EF4-FFF2-40B4-BE49-F238E27FC236}">
                <a16:creationId xmlns:a16="http://schemas.microsoft.com/office/drawing/2014/main" id="{6B8F7298-EF37-4481-8585-5CD2B958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704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FastAPI обслуживает API</a:t>
            </a:r>
          </a:p>
          <a:p xmlns:a="http://schemas.openxmlformats.org/drawingml/2006/main">
            <a: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и готовый интерфейс React + TypeScript.</a:t>
            </a:r>
          </a:p>
          <a:p xmlns:a="http://schemas.openxmlformats.org/drawingml/2006/main">
            <a: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Node не нужен при обычном запуске из архива.</a:t>
            </a:r>
          </a:p>
        </p:txBody>
      </p:sp>
      <p:sp>
        <p:nvSpPr>
          <p:cNvPr id="7" name="Данные на компьютере">
            <a:extLst xmlns:a="http://schemas.openxmlformats.org/drawingml/2006/main">
              <a:ext uri="{FF2B5EF4-FFF2-40B4-BE49-F238E27FC236}">
                <a16:creationId xmlns:a16="http://schemas.microsoft.com/office/drawing/2014/main" id="{14D47580-0266-41C3-91D9-AB6A94E6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86275"/>
            <a:ext cx="5715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B353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B3530"/>
                </a:solidFill>
                <a:latin typeface="Arial"/>
                <a:ea typeface="Arial"/>
                <a:cs typeface="Arial"/>
              </a:rPr>
              <a:t>Данные на компьютере</a:t>
            </a:r>
          </a:p>
        </p:txBody>
      </p:sp>
      <p:sp>
        <p:nvSpPr>
          <p:cNvPr id="8" name="SQLite сохраняет данные после перезапуска.">
            <a:extLst xmlns:a="http://schemas.openxmlformats.org/drawingml/2006/main">
              <a:ext uri="{FF2B5EF4-FFF2-40B4-BE49-F238E27FC236}">
                <a16:creationId xmlns:a16="http://schemas.microsoft.com/office/drawing/2014/main" id="{0E35ED68-4D63-4E7D-B3B1-A453FE18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76850"/>
            <a:ext cx="5810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SQLite сохраняет данные после перезапуска.</a:t>
            </a:r>
          </a:p>
          <a:p xmlns:a="http://schemas.openxmlformats.org/drawingml/2006/main">
            <a: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Резервная копия восстанавливается</a:t>
            </a:r>
          </a:p>
          <a:p xmlns:a="http://schemas.openxmlformats.org/drawingml/2006/main">
            <a:pPr algn="l">
              <a:defRPr sz="225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в отдельный файл.</a:t>
            </a:r>
          </a:p>
        </p:txBody>
      </p:sp>
      <p:sp>
        <p:nvSpPr>
          <p:cNvPr id="9" name="Перед первым запуском нужны Python и зависимости backend. Инструк">
            <a:extLst xmlns:a="http://schemas.openxmlformats.org/drawingml/2006/main">
              <a:ext uri="{FF2B5EF4-FFF2-40B4-BE49-F238E27FC236}">
                <a16:creationId xmlns:a16="http://schemas.microsoft.com/office/drawing/2014/main" id="{C2EEEC07-F1B5-45CB-8B63-711F7604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48600"/>
            <a:ext cx="1304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D746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D746C"/>
                </a:solidFill>
                <a:latin typeface="Arial"/>
                <a:ea typeface="Arial"/>
                <a:cs typeface="Arial"/>
              </a:rPr>
              <a:t>Перед первым запуском нужны Python и зависимости backend. Инструкция входит в локальный выпуск.</a:t>
            </a:r>
          </a:p>
        </p:txBody>
      </p:sp>
    </p:spTree>
    <p:extLst>
      <p:ext uri="{BB962C8B-B14F-4D97-AF65-F5344CB8AC3E}">
        <p14:creationId xmlns:p14="http://schemas.microsoft.com/office/powerpoint/2010/main" val="3475418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3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Готовый локальный MVP">
            <a:extLst xmlns:a="http://schemas.openxmlformats.org/drawingml/2006/main">
              <a:ext uri="{FF2B5EF4-FFF2-40B4-BE49-F238E27FC236}">
                <a16:creationId xmlns:a16="http://schemas.microsoft.com/office/drawing/2014/main" id="{0EC5D206-9381-4C2C-B089-708AE2B2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381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Готовый локальный MVP</a:t>
            </a:r>
          </a:p>
        </p:txBody>
      </p:sp>
      <p:sp>
        <p:nvSpPr>
          <p:cNvPr id="2" name="15">
            <a:extLst xmlns:a="http://schemas.openxmlformats.org/drawingml/2006/main">
              <a:ext uri="{FF2B5EF4-FFF2-40B4-BE49-F238E27FC236}">
                <a16:creationId xmlns:a16="http://schemas.microsoft.com/office/drawing/2014/main" id="{2986057F-D2E8-42BE-8B97-C27B6C94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581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defPPr>
            <a:lvl1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1pPr>
            <a:lvl2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2pPr>
            <a:lvl3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3pPr>
            <a:lvl4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4pPr>
            <a:lvl5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5pPr>
            <a:lvl6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6pPr>
            <a:lvl7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7pPr>
            <a:lvl8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8pPr>
            <a:lvl9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CD8C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270">
            <a:extLst xmlns:a="http://schemas.openxmlformats.org/drawingml/2006/main">
              <a:ext uri="{FF2B5EF4-FFF2-40B4-BE49-F238E27FC236}">
                <a16:creationId xmlns:a16="http://schemas.microsoft.com/office/drawing/2014/main" id="{2C285FFE-F7EE-4A8D-B2A6-5143FA85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270</a:t>
            </a:r>
          </a:p>
        </p:txBody>
      </p:sp>
      <p:sp>
        <p:nvSpPr>
          <p:cNvPr id="4" name="серверных тестов">
            <a:extLst xmlns:a="http://schemas.openxmlformats.org/drawingml/2006/main">
              <a:ext uri="{FF2B5EF4-FFF2-40B4-BE49-F238E27FC236}">
                <a16:creationId xmlns:a16="http://schemas.microsoft.com/office/drawing/2014/main" id="{D8D34479-DBAC-43A4-8050-41A65778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CD8CA"/>
                </a:solidFill>
                <a:latin typeface="Arial"/>
                <a:ea typeface="Arial"/>
                <a:cs typeface="Arial"/>
              </a:rPr>
              <a:t>серверных тестов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ED523AEE-809A-41CF-979F-E7F02430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571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тестов интерфейса">
            <a:extLst xmlns:a="http://schemas.openxmlformats.org/drawingml/2006/main">
              <a:ext uri="{FF2B5EF4-FFF2-40B4-BE49-F238E27FC236}">
                <a16:creationId xmlns:a16="http://schemas.microsoft.com/office/drawing/2014/main" id="{1E5B0E8B-1EA7-4708-8186-DD9FB25B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BCD8CA"/>
                </a:solidFill>
                <a:latin typeface="Arial"/>
                <a:ea typeface="Arial"/>
                <a:cs typeface="Arial"/>
              </a:rPr>
              <a:t>тестов интерфейса</a:t>
            </a:r>
          </a:p>
        </p:txBody>
      </p:sp>
      <p:sp>
        <p:nvSpPr>
          <p:cNvPr id="7" name="Проверено в локальном выпуске">
            <a:extLst xmlns:a="http://schemas.openxmlformats.org/drawingml/2006/main">
              <a:ext uri="{FF2B5EF4-FFF2-40B4-BE49-F238E27FC236}">
                <a16:creationId xmlns:a16="http://schemas.microsoft.com/office/drawing/2014/main" id="{CEBF37D5-1DDF-4298-BADF-156E39F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676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Проверено в локальном выпуске</a:t>
            </a:r>
          </a:p>
        </p:txBody>
      </p:sp>
      <p:sp>
        <p:nvSpPr>
          <p:cNvPr id="8" name="Импорт и точные суммы">
            <a:extLst xmlns:a="http://schemas.openxmlformats.org/drawingml/2006/main">
              <a:ext uri="{FF2B5EF4-FFF2-40B4-BE49-F238E27FC236}">
                <a16:creationId xmlns:a16="http://schemas.microsoft.com/office/drawing/2014/main" id="{9FFC53A7-59CD-4348-B27F-3E1A153D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CD8CA"/>
                </a:solidFill>
                <a:latin typeface="Arial"/>
                <a:ea typeface="Arial"/>
                <a:cs typeface="Arial"/>
              </a:rPr>
              <a:t>Импорт и точные суммы</a:t>
            </a:r>
          </a:p>
          <a:p xmlns:a="http://schemas.openxmlformats.org/drawingml/2006/main">
            <a: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CD8CA"/>
                </a:solidFill>
                <a:latin typeface="Arial"/>
                <a:ea typeface="Arial"/>
                <a:cs typeface="Arial"/>
              </a:rPr>
              <a:t>Русский и казахский PDF</a:t>
            </a:r>
          </a:p>
          <a:p xmlns:a="http://schemas.openxmlformats.org/drawingml/2006/main">
            <a: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CD8CA"/>
                </a:solidFill>
                <a:latin typeface="Arial"/>
                <a:ea typeface="Arial"/>
                <a:cs typeface="Arial"/>
              </a:rPr>
              <a:t>Сохранность данных после перезапуска</a:t>
            </a:r>
          </a:p>
          <a:p xmlns:a="http://schemas.openxmlformats.org/drawingml/2006/main">
            <a:pPr algn="l">
              <a:defRPr sz="2325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BCD8CA"/>
                </a:solidFill>
                <a:latin typeface="Arial"/>
                <a:ea typeface="Arial"/>
                <a:cs typeface="Arial"/>
              </a:rPr>
              <a:t>Резервное копирование и восстановление</a:t>
            </a:r>
          </a:p>
        </p:txBody>
      </p:sp>
      <p:sp>
        <p:nvSpPr>
          <p:cNvPr id="9" name="Следующий шаг: пилот на данных одного бизнеса">
            <a:extLst xmlns:a="http://schemas.openxmlformats.org/drawingml/2006/main">
              <a:ext uri="{FF2B5EF4-FFF2-40B4-BE49-F238E27FC236}">
                <a16:creationId xmlns:a16="http://schemas.microsoft.com/office/drawing/2014/main" id="{6FAF4FF1-96F2-46AD-938A-B05F57D8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342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шаг: пилот на данных одного бизнеса</a:t>
            </a:r>
          </a:p>
        </p:txBody>
      </p:sp>
      <p:sp>
        <p:nvSpPr>
          <p:cNvPr id="10" name="Проверка полезности сигналов и качества прогноза на реальных опер">
            <a:extLst xmlns:a="http://schemas.openxmlformats.org/drawingml/2006/main">
              <a:ext uri="{FF2B5EF4-FFF2-40B4-BE49-F238E27FC236}">
                <a16:creationId xmlns:a16="http://schemas.microsoft.com/office/drawing/2014/main" id="{9D9B196B-2E8C-43CA-8A58-18335C5A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77175"/>
            <a:ext cx="1276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BCD8C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CD8CA"/>
                </a:solidFill>
                <a:latin typeface="Arial"/>
                <a:ea typeface="Arial"/>
                <a:cs typeface="Arial"/>
              </a:rPr>
              <a:t>Проверка полезности сигналов и качества прогноза на реальных операциях</a:t>
            </a:r>
          </a:p>
        </p:txBody>
      </p:sp>
    </p:spTree>
    <p:extLst>
      <p:ext uri="{BB962C8B-B14F-4D97-AF65-F5344CB8AC3E}">
        <p14:creationId xmlns:p14="http://schemas.microsoft.com/office/powerpoint/2010/main" val="1545587125"/>
      </p:ext>
    </p:extLst>
  </p:cSld>
</p:sld>
</file>

<file path=ppt/theme/theme1.xml><?xml version="1.0" encoding="utf-8"?>
<a:theme xmlns:a="http://schemas.openxmlformats.org/drawingml/2006/main" name="ChatGPT">
  <a:themeElements>
    <a:clrScheme name="ProfitLeak">
      <a:dk1>
        <a:srgbClr val="1B3530"/>
      </a:dk1>
      <a:lt1>
        <a:srgbClr val="FFFFFF"/>
      </a:lt1>
      <a:dk2>
        <a:srgbClr val="103D32"/>
      </a:dk2>
      <a:lt2>
        <a:srgbClr val="F3F7F4"/>
      </a:lt2>
      <a:accent1>
        <a:srgbClr val="008E7F"/>
      </a:accent1>
      <a:accent2>
        <a:srgbClr val="BCD8CA"/>
      </a:accent2>
      <a:accent3>
        <a:srgbClr val="C17145"/>
      </a:accent3>
      <a:accent4>
        <a:srgbClr val="A44E42"/>
      </a:accent4>
      <a:accent5>
        <a:srgbClr val="A1B9CC"/>
      </a:accent5>
      <a:accent6>
        <a:srgbClr val="DBC179"/>
      </a:accent6>
      <a:hlink>
        <a:srgbClr val="008E7F"/>
      </a:hlink>
      <a:folHlink>
        <a:srgbClr val="008E7F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ProfitLeak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2026-10-17T09:02:23.6420000Z</dcterms:created>
  <dcterms:modified xsi:type="dcterms:W3CDTF">2026-10-17T09:02:23.6420000Z</dcterms:modified>
</coreProperties>
</file>